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 Ouverture.
Message clé : Ombrair ne vend pas « un volet connecté », mais un ensemble qui va du capteur jusqu'au service après installation.
À dire : présenter la chaîne de droite en une phrase — nos capteurs mesurent, notre système décide, l'application donne la main au client, et les volets et fenêtres motorisés exécutent. Autour de tout ça : l'installation, la maintenance et l'assistance, qui sont aussi notre métier.
Transition : « Commençons par la partie que nous maîtrisons entièrement : les capteurs.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60 s — La slide la plus importante pour comprendre notre métier.
Message clé : les capteurs sont la technologie réellement maîtrisée en interne. Nous ne sous-traitons ni la conception ni la fabrication, et nous restons responsables de leur installation et de leur maintenance.
À dire : insister sur la chaîne complète — concevoir, fabriquer, installer, maintenir. Puis expliquer les quatre grandeurs mesurées : température intérieure et extérieure, humidité, luminosité, qualité de l'air. C'est ce qui permet au système de savoir quand il faut fermer et quand il faut ouvrir.
Ne pas inventer de chiffres : ne pas annoncer d'autonomie, de portée radio ni de précision — ces données ne sont pas définies dans le projet.
Transition : « En revanche, tout ce qui bouge dans le logement — les volets et les fenêtres — ne sort pas de nos ateliers.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65 s — La slide qui lève toute ambiguïté commerciale.
Message clé : deux natures de produits très différentes. Les capteurs sont à nous de bout en bout. Les volets et les fenêtres motorisés viennent de fabricants spécialisés.
À dire : assumer clairement ce point — nous ne sommes pas menuisiers ni fabricants de motorisation. Notre valeur est de choisir des équipements compatibles, de les installer correctement et de les faire fonctionner avec nos capteurs. C'est un choix industriel assumé : on ne réinvente pas un volet, on rend intelligent celui qui existe.
Attention à la formulation : dire « volets motorisés proposés et installés par Ombrair », jamais « nos volets fabriqués par Ombrair ».
Transition : « Voyons maintenant ce que donne l'ensemble une fois installé.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55 s.
Message clé : les produits ne valent que par leur fonctionnement d'ensemble. Le capteur seul ne sert à rien, le volet seul non plus.
À dire : dérouler les quatre étapes rapidement, puis appuyer sur la logique de fond — quand l'extérieur est plus chaud, on ferme ; quand il devient plus frais, on ouvre. C'est le geste que tout le monde connaît mais que personne ne fait au bon moment tous les jours.
Important : préciser à l'oral qu'il s'agit d'un scénario d'illustration et que nous ne promettons pas un nombre de degrés gagnés.
Transition : « Et le client, lui, voit tout ça depuis une seule application.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65 s.
Message clé : l'application n'est pas un gadget offert, c'est le centre de contrôle de l'installation — et elle est incluse à vie, sans abonnement.
À dire : présenter les quatre familles d'usage plutôt que d'énumérer des fonctions. Piloter, surveiller, automatiser, être assisté. Montrer la capture : ce que le client voit en ouvrant l'app, c'est l'état réel de son logement et la prochaine action prévue, avec sa raison.
Point commercial à ne pas rater : l'accès est inclus à vie avec l'achat. Ombrair+ existe mais reste facultatif — ne jamais le présenter comme nécessaire.
Préciser que la capture vient d'une démonstration à données simulées.
Transition : « Reste la partie qu'on oublie souvent dans la domotique : ce qui se passe avant et après la pose.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55 s.
Message clé : la vente ne s'arrête pas à la pose. Une bonne partie de la valeur d'Ombrair est du service.
À dire : dérouler le parcours client. Avant, on conseille et on vérifie la compatibilité — c'est important car tous les volets existants ne sont pas éligibles. Pendant, on fournit, on pose, on configure et on met en service. Après, on assure la maintenance, le suivi des capteurs et l'assistance, avec l'application comme point d'entrée.
Insister sur la colonne « Après » : c'est ce qui distingue une solution d'un simple produit vendu en carton.
Transition : « Concrètement, cela se décline en trois niveaux d'offre.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55 s.
Message clé : trois portes d'entrée selon ce que le client possède déjà. Le point de départ, c'est son logement, pas notre catalogue.
À dire : le capteur, 349 € le kit, c'est le produit que nous concevons et fabriquons. Le volet, à partir de 690 € par ouvrant posé, quand il faut motoriser une ouverture. La fenêtre, à partir de 1 590 € par ouvrant posé — ce prix couvre la fenêtre ET le volet posés ensemble ; une fenêtre motorisée seule se chiffre sur devis.
Rappeler que ces prix sont des prix de départ : au-delà, c'est du devis sur mesure. Il existe aussi une offre Pro sur devis pour les bailleurs, EHPAD et établissements scolaires.
Répéter le point clé : dans les trois cas, l'application est incluse à vie.
Transition : « Pour résumer ce que nous vendons, du capteur jusqu'au service.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 Conclusion.
Message clé, à énoncer tel quel : Ombrair conçoit la couche intelligente — capteurs, intégration, logiciel, services — et fournit les équipements motorisés nécessaires, qu'elle installe et accompagne dans la durée.
À dire : reprendre les cinq verbes de la chaîne. Concevoir est la seule étape où nous fabriquons du matériel. Les quatre autres sont de l'assemblage, de l'installation, du logiciel et du service — et c'est là que se trouve l'essentiel de notre valeur.
Terminer sur la baseline, puis ouvrir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E1C"/>
        </a:solidFill>
      </p:bgPr>
    </p:bg>
    <p:spTree>
      <p:nvGrpSpPr>
        <p:cNvPr id="1" name=""/>
        <p:cNvGrpSpPr/>
        <p:nvPr/>
      </p:nvGrpSpPr>
      <p:grpSpPr>
        <a:xfrm>
          <a:off x="0" y="0"/>
          <a:ext cx="0" cy="0"/>
          <a:chOff x="0" y="0"/>
          <a:chExt cx="0" cy="0"/>
        </a:xfrm>
      </p:grpSpPr>
      <p:sp>
        <p:nvSpPr>
          <p:cNvPr id="2" name="Shape 0"/>
          <p:cNvSpPr/>
          <p:nvPr/>
        </p:nvSpPr>
        <p:spPr>
          <a:xfrm>
            <a:off x="502920" y="457200"/>
            <a:ext cx="1371600" cy="41148"/>
          </a:xfrm>
          <a:prstGeom prst="rect">
            <a:avLst/>
          </a:prstGeom>
          <a:solidFill>
            <a:srgbClr val="35473F"/>
          </a:solidFill>
          <a:ln/>
        </p:spPr>
      </p:sp>
      <p:sp>
        <p:nvSpPr>
          <p:cNvPr id="3" name="Shape 1"/>
          <p:cNvSpPr/>
          <p:nvPr/>
        </p:nvSpPr>
        <p:spPr>
          <a:xfrm>
            <a:off x="502920" y="566928"/>
            <a:ext cx="1371600" cy="41148"/>
          </a:xfrm>
          <a:prstGeom prst="rect">
            <a:avLst/>
          </a:prstGeom>
          <a:solidFill>
            <a:srgbClr val="35473F"/>
          </a:solidFill>
          <a:ln/>
        </p:spPr>
      </p:sp>
      <p:sp>
        <p:nvSpPr>
          <p:cNvPr id="4" name="Shape 2"/>
          <p:cNvSpPr/>
          <p:nvPr/>
        </p:nvSpPr>
        <p:spPr>
          <a:xfrm>
            <a:off x="502920" y="676656"/>
            <a:ext cx="1371600" cy="41148"/>
          </a:xfrm>
          <a:prstGeom prst="rect">
            <a:avLst/>
          </a:prstGeom>
          <a:solidFill>
            <a:srgbClr val="35473F"/>
          </a:solidFill>
          <a:ln/>
        </p:spPr>
      </p:sp>
      <p:sp>
        <p:nvSpPr>
          <p:cNvPr id="5" name="Shape 3"/>
          <p:cNvSpPr/>
          <p:nvPr/>
        </p:nvSpPr>
        <p:spPr>
          <a:xfrm>
            <a:off x="502920" y="786384"/>
            <a:ext cx="1371600" cy="41148"/>
          </a:xfrm>
          <a:prstGeom prst="rect">
            <a:avLst/>
          </a:prstGeom>
          <a:solidFill>
            <a:srgbClr val="35473F"/>
          </a:solidFill>
          <a:ln/>
        </p:spPr>
      </p:sp>
      <p:sp>
        <p:nvSpPr>
          <p:cNvPr id="6" name="Text 4"/>
          <p:cNvSpPr/>
          <p:nvPr/>
        </p:nvSpPr>
        <p:spPr>
          <a:xfrm>
            <a:off x="502920" y="1051560"/>
            <a:ext cx="4937760" cy="228600"/>
          </a:xfrm>
          <a:prstGeom prst="rect">
            <a:avLst/>
          </a:prstGeom>
          <a:noFill/>
          <a:ln/>
        </p:spPr>
        <p:txBody>
          <a:bodyPr wrap="square" rtlCol="0" anchor="ctr"/>
          <a:lstStyle/>
          <a:p>
            <a:pPr indent="0" marL="0">
              <a:buNone/>
            </a:pPr>
            <a:r>
              <a:rPr lang="en-US" sz="1000" spc="180" kern="0" dirty="0">
                <a:solidFill>
                  <a:srgbClr val="8A908C"/>
                </a:solidFill>
                <a:latin typeface="Arial" pitchFamily="34" charset="0"/>
                <a:ea typeface="Arial" pitchFamily="34" charset="-122"/>
                <a:cs typeface="Arial" pitchFamily="34" charset="-120"/>
              </a:rPr>
              <a:t>OMBRAIR — PRODUITS ET SERVICES</a:t>
            </a:r>
            <a:endParaRPr lang="en-US" sz="1000" dirty="0"/>
          </a:p>
        </p:txBody>
      </p:sp>
      <p:sp>
        <p:nvSpPr>
          <p:cNvPr id="7" name="Text 5"/>
          <p:cNvSpPr/>
          <p:nvPr/>
        </p:nvSpPr>
        <p:spPr>
          <a:xfrm>
            <a:off x="502920" y="1371600"/>
            <a:ext cx="4754880" cy="1371600"/>
          </a:xfrm>
          <a:prstGeom prst="rect">
            <a:avLst/>
          </a:prstGeom>
          <a:noFill/>
          <a:ln/>
        </p:spPr>
        <p:txBody>
          <a:bodyPr wrap="square" rtlCol="0" anchor="ctr"/>
          <a:lstStyle/>
          <a:p>
            <a:pPr indent="0" marL="0">
              <a:lnSpc>
                <a:spcPts val="3400"/>
              </a:lnSpc>
              <a:buNone/>
            </a:pPr>
            <a:r>
              <a:rPr lang="en-US" sz="3000" b="1" dirty="0">
                <a:solidFill>
                  <a:srgbClr val="EDEEE8"/>
                </a:solidFill>
                <a:latin typeface="Arial" pitchFamily="34" charset="0"/>
                <a:ea typeface="Arial" pitchFamily="34" charset="-122"/>
                <a:cs typeface="Arial" pitchFamily="34" charset="-120"/>
              </a:rPr>
              <a:t>Un écosystème complet pour piloter les ouvrants du logement</a:t>
            </a:r>
            <a:endParaRPr lang="en-US" sz="3000" dirty="0"/>
          </a:p>
        </p:txBody>
      </p:sp>
      <p:sp>
        <p:nvSpPr>
          <p:cNvPr id="8" name="Text 6"/>
          <p:cNvSpPr/>
          <p:nvPr/>
        </p:nvSpPr>
        <p:spPr>
          <a:xfrm>
            <a:off x="502920" y="2880360"/>
            <a:ext cx="4754880" cy="548640"/>
          </a:xfrm>
          <a:prstGeom prst="rect">
            <a:avLst/>
          </a:prstGeom>
          <a:noFill/>
          <a:ln/>
        </p:spPr>
        <p:txBody>
          <a:bodyPr wrap="square" rtlCol="0" anchor="ctr"/>
          <a:lstStyle/>
          <a:p>
            <a:pPr indent="0" marL="0">
              <a:lnSpc>
                <a:spcPts val="1800"/>
              </a:lnSpc>
              <a:buNone/>
            </a:pPr>
            <a:r>
              <a:rPr lang="en-US" sz="1300" dirty="0">
                <a:solidFill>
                  <a:srgbClr val="8A908C"/>
                </a:solidFill>
                <a:latin typeface="Arial" pitchFamily="34" charset="0"/>
                <a:ea typeface="Arial" pitchFamily="34" charset="-122"/>
                <a:cs typeface="Arial" pitchFamily="34" charset="-120"/>
              </a:rPr>
              <a:t>Capteurs · équipements motorisés · application · installation · maintenance</a:t>
            </a:r>
            <a:endParaRPr lang="en-US" sz="1300" dirty="0"/>
          </a:p>
        </p:txBody>
      </p:sp>
      <p:sp>
        <p:nvSpPr>
          <p:cNvPr id="9" name="Shape 7"/>
          <p:cNvSpPr/>
          <p:nvPr/>
        </p:nvSpPr>
        <p:spPr>
          <a:xfrm>
            <a:off x="5623560" y="685800"/>
            <a:ext cx="3017520" cy="658368"/>
          </a:xfrm>
          <a:prstGeom prst="rect">
            <a:avLst/>
          </a:prstGeom>
          <a:solidFill>
            <a:srgbClr val="17302B"/>
          </a:solidFill>
          <a:ln w="9525">
            <a:solidFill>
              <a:srgbClr val="35473F"/>
            </a:solidFill>
            <a:prstDash val="solid"/>
          </a:ln>
        </p:spPr>
      </p:sp>
      <p:sp>
        <p:nvSpPr>
          <p:cNvPr id="10" name="Text 8"/>
          <p:cNvSpPr/>
          <p:nvPr/>
        </p:nvSpPr>
        <p:spPr>
          <a:xfrm>
            <a:off x="5788152" y="768096"/>
            <a:ext cx="2688336" cy="256032"/>
          </a:xfrm>
          <a:prstGeom prst="rect">
            <a:avLst/>
          </a:prstGeom>
          <a:noFill/>
          <a:ln/>
        </p:spPr>
        <p:txBody>
          <a:bodyPr wrap="square" rtlCol="0" anchor="ctr"/>
          <a:lstStyle/>
          <a:p>
            <a:pPr indent="0" marL="0">
              <a:buNone/>
            </a:pPr>
            <a:r>
              <a:rPr lang="en-US" sz="1200" b="1" dirty="0">
                <a:solidFill>
                  <a:srgbClr val="EDEEE8"/>
                </a:solidFill>
                <a:latin typeface="Arial" pitchFamily="34" charset="0"/>
                <a:ea typeface="Arial" pitchFamily="34" charset="-122"/>
                <a:cs typeface="Arial" pitchFamily="34" charset="-120"/>
              </a:rPr>
              <a:t>Capteurs Ombrair</a:t>
            </a:r>
            <a:endParaRPr lang="en-US" sz="1200" dirty="0"/>
          </a:p>
        </p:txBody>
      </p:sp>
      <p:sp>
        <p:nvSpPr>
          <p:cNvPr id="11" name="Text 9"/>
          <p:cNvSpPr/>
          <p:nvPr/>
        </p:nvSpPr>
        <p:spPr>
          <a:xfrm>
            <a:off x="5788152" y="1024128"/>
            <a:ext cx="2688336" cy="237744"/>
          </a:xfrm>
          <a:prstGeom prst="rect">
            <a:avLst/>
          </a:prstGeom>
          <a:noFill/>
          <a:ln/>
        </p:spPr>
        <p:txBody>
          <a:bodyPr wrap="square" rtlCol="0" anchor="ctr"/>
          <a:lstStyle/>
          <a:p>
            <a:pPr indent="0" marL="0">
              <a:buNone/>
            </a:pPr>
            <a:r>
              <a:rPr lang="en-US" sz="950" dirty="0">
                <a:solidFill>
                  <a:srgbClr val="8A908C"/>
                </a:solidFill>
                <a:latin typeface="Arial" pitchFamily="34" charset="0"/>
                <a:ea typeface="Arial" pitchFamily="34" charset="-122"/>
                <a:cs typeface="Arial" pitchFamily="34" charset="-120"/>
              </a:rPr>
              <a:t>conçus et fabriqués par nous</a:t>
            </a:r>
            <a:endParaRPr lang="en-US" sz="950" dirty="0"/>
          </a:p>
        </p:txBody>
      </p:sp>
      <p:sp>
        <p:nvSpPr>
          <p:cNvPr id="12" name="Text 10"/>
          <p:cNvSpPr/>
          <p:nvPr/>
        </p:nvSpPr>
        <p:spPr>
          <a:xfrm>
            <a:off x="5623560" y="1344168"/>
            <a:ext cx="3017520" cy="237744"/>
          </a:xfrm>
          <a:prstGeom prst="rect">
            <a:avLst/>
          </a:prstGeom>
          <a:noFill/>
          <a:ln/>
        </p:spPr>
        <p:txBody>
          <a:bodyPr wrap="square" rtlCol="0" anchor="ctr"/>
          <a:lstStyle/>
          <a:p>
            <a:pPr algn="ctr" indent="0" marL="0">
              <a:buNone/>
            </a:pPr>
            <a:r>
              <a:rPr lang="en-US" sz="1200" dirty="0">
                <a:solidFill>
                  <a:srgbClr val="8A908C"/>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5623560" y="1581912"/>
            <a:ext cx="3017520" cy="658368"/>
          </a:xfrm>
          <a:prstGeom prst="rect">
            <a:avLst/>
          </a:prstGeom>
          <a:solidFill>
            <a:srgbClr val="17302B"/>
          </a:solidFill>
          <a:ln w="9525">
            <a:solidFill>
              <a:srgbClr val="35473F"/>
            </a:solidFill>
            <a:prstDash val="solid"/>
          </a:ln>
        </p:spPr>
      </p:sp>
      <p:sp>
        <p:nvSpPr>
          <p:cNvPr id="14" name="Text 12"/>
          <p:cNvSpPr/>
          <p:nvPr/>
        </p:nvSpPr>
        <p:spPr>
          <a:xfrm>
            <a:off x="5788152" y="1664208"/>
            <a:ext cx="2688336" cy="256032"/>
          </a:xfrm>
          <a:prstGeom prst="rect">
            <a:avLst/>
          </a:prstGeom>
          <a:noFill/>
          <a:ln/>
        </p:spPr>
        <p:txBody>
          <a:bodyPr wrap="square" rtlCol="0" anchor="ctr"/>
          <a:lstStyle/>
          <a:p>
            <a:pPr indent="0" marL="0">
              <a:buNone/>
            </a:pPr>
            <a:r>
              <a:rPr lang="en-US" sz="1200" b="1" dirty="0">
                <a:solidFill>
                  <a:srgbClr val="EDEEE8"/>
                </a:solidFill>
                <a:latin typeface="Arial" pitchFamily="34" charset="0"/>
                <a:ea typeface="Arial" pitchFamily="34" charset="-122"/>
                <a:cs typeface="Arial" pitchFamily="34" charset="-120"/>
              </a:rPr>
              <a:t>Intelligence Ombrair</a:t>
            </a:r>
            <a:endParaRPr lang="en-US" sz="1200" dirty="0"/>
          </a:p>
        </p:txBody>
      </p:sp>
      <p:sp>
        <p:nvSpPr>
          <p:cNvPr id="15" name="Text 13"/>
          <p:cNvSpPr/>
          <p:nvPr/>
        </p:nvSpPr>
        <p:spPr>
          <a:xfrm>
            <a:off x="5788152" y="1920240"/>
            <a:ext cx="2688336" cy="237744"/>
          </a:xfrm>
          <a:prstGeom prst="rect">
            <a:avLst/>
          </a:prstGeom>
          <a:noFill/>
          <a:ln/>
        </p:spPr>
        <p:txBody>
          <a:bodyPr wrap="square" rtlCol="0" anchor="ctr"/>
          <a:lstStyle/>
          <a:p>
            <a:pPr indent="0" marL="0">
              <a:buNone/>
            </a:pPr>
            <a:r>
              <a:rPr lang="en-US" sz="950" dirty="0">
                <a:solidFill>
                  <a:srgbClr val="8A908C"/>
                </a:solidFill>
                <a:latin typeface="Arial" pitchFamily="34" charset="0"/>
                <a:ea typeface="Arial" pitchFamily="34" charset="-122"/>
                <a:cs typeface="Arial" pitchFamily="34" charset="-120"/>
              </a:rPr>
              <a:t>décide du bon moment</a:t>
            </a:r>
            <a:endParaRPr lang="en-US" sz="950" dirty="0"/>
          </a:p>
        </p:txBody>
      </p:sp>
      <p:sp>
        <p:nvSpPr>
          <p:cNvPr id="16" name="Text 14"/>
          <p:cNvSpPr/>
          <p:nvPr/>
        </p:nvSpPr>
        <p:spPr>
          <a:xfrm>
            <a:off x="5623560" y="2240280"/>
            <a:ext cx="3017520" cy="237744"/>
          </a:xfrm>
          <a:prstGeom prst="rect">
            <a:avLst/>
          </a:prstGeom>
          <a:noFill/>
          <a:ln/>
        </p:spPr>
        <p:txBody>
          <a:bodyPr wrap="square" rtlCol="0" anchor="ctr"/>
          <a:lstStyle/>
          <a:p>
            <a:pPr algn="ctr" indent="0" marL="0">
              <a:buNone/>
            </a:pPr>
            <a:r>
              <a:rPr lang="en-US" sz="1200" dirty="0">
                <a:solidFill>
                  <a:srgbClr val="8A908C"/>
                </a:solidFill>
                <a:latin typeface="Arial" pitchFamily="34" charset="0"/>
                <a:ea typeface="Arial" pitchFamily="34" charset="-122"/>
                <a:cs typeface="Arial" pitchFamily="34" charset="-120"/>
              </a:rPr>
              <a:t>↓</a:t>
            </a:r>
            <a:endParaRPr lang="en-US" sz="1200" dirty="0"/>
          </a:p>
        </p:txBody>
      </p:sp>
      <p:sp>
        <p:nvSpPr>
          <p:cNvPr id="17" name="Shape 15"/>
          <p:cNvSpPr/>
          <p:nvPr/>
        </p:nvSpPr>
        <p:spPr>
          <a:xfrm>
            <a:off x="5623560" y="2478024"/>
            <a:ext cx="3017520" cy="658368"/>
          </a:xfrm>
          <a:prstGeom prst="rect">
            <a:avLst/>
          </a:prstGeom>
          <a:solidFill>
            <a:srgbClr val="17302B"/>
          </a:solidFill>
          <a:ln w="9525">
            <a:solidFill>
              <a:srgbClr val="35473F"/>
            </a:solidFill>
            <a:prstDash val="solid"/>
          </a:ln>
        </p:spPr>
      </p:sp>
      <p:sp>
        <p:nvSpPr>
          <p:cNvPr id="18" name="Text 16"/>
          <p:cNvSpPr/>
          <p:nvPr/>
        </p:nvSpPr>
        <p:spPr>
          <a:xfrm>
            <a:off x="5788152" y="2560320"/>
            <a:ext cx="2688336" cy="256032"/>
          </a:xfrm>
          <a:prstGeom prst="rect">
            <a:avLst/>
          </a:prstGeom>
          <a:noFill/>
          <a:ln/>
        </p:spPr>
        <p:txBody>
          <a:bodyPr wrap="square" rtlCol="0" anchor="ctr"/>
          <a:lstStyle/>
          <a:p>
            <a:pPr indent="0" marL="0">
              <a:buNone/>
            </a:pPr>
            <a:r>
              <a:rPr lang="en-US" sz="1200" b="1" dirty="0">
                <a:solidFill>
                  <a:srgbClr val="EDEEE8"/>
                </a:solidFill>
                <a:latin typeface="Arial" pitchFamily="34" charset="0"/>
                <a:ea typeface="Arial" pitchFamily="34" charset="-122"/>
                <a:cs typeface="Arial" pitchFamily="34" charset="-120"/>
              </a:rPr>
              <a:t>Application Ombrair</a:t>
            </a:r>
            <a:endParaRPr lang="en-US" sz="1200" dirty="0"/>
          </a:p>
        </p:txBody>
      </p:sp>
      <p:sp>
        <p:nvSpPr>
          <p:cNvPr id="19" name="Text 17"/>
          <p:cNvSpPr/>
          <p:nvPr/>
        </p:nvSpPr>
        <p:spPr>
          <a:xfrm>
            <a:off x="5788152" y="2816352"/>
            <a:ext cx="2688336" cy="237744"/>
          </a:xfrm>
          <a:prstGeom prst="rect">
            <a:avLst/>
          </a:prstGeom>
          <a:noFill/>
          <a:ln/>
        </p:spPr>
        <p:txBody>
          <a:bodyPr wrap="square" rtlCol="0" anchor="ctr"/>
          <a:lstStyle/>
          <a:p>
            <a:pPr indent="0" marL="0">
              <a:buNone/>
            </a:pPr>
            <a:r>
              <a:rPr lang="en-US" sz="950" dirty="0">
                <a:solidFill>
                  <a:srgbClr val="8A908C"/>
                </a:solidFill>
                <a:latin typeface="Arial" pitchFamily="34" charset="0"/>
                <a:ea typeface="Arial" pitchFamily="34" charset="-122"/>
                <a:cs typeface="Arial" pitchFamily="34" charset="-120"/>
              </a:rPr>
              <a:t>le client garde la main</a:t>
            </a:r>
            <a:endParaRPr lang="en-US" sz="950" dirty="0"/>
          </a:p>
        </p:txBody>
      </p:sp>
      <p:sp>
        <p:nvSpPr>
          <p:cNvPr id="20" name="Text 18"/>
          <p:cNvSpPr/>
          <p:nvPr/>
        </p:nvSpPr>
        <p:spPr>
          <a:xfrm>
            <a:off x="5623560" y="3136392"/>
            <a:ext cx="3017520" cy="237744"/>
          </a:xfrm>
          <a:prstGeom prst="rect">
            <a:avLst/>
          </a:prstGeom>
          <a:noFill/>
          <a:ln/>
        </p:spPr>
        <p:txBody>
          <a:bodyPr wrap="square" rtlCol="0" anchor="ctr"/>
          <a:lstStyle/>
          <a:p>
            <a:pPr algn="ctr" indent="0" marL="0">
              <a:buNone/>
            </a:pPr>
            <a:r>
              <a:rPr lang="en-US" sz="1200" dirty="0">
                <a:solidFill>
                  <a:srgbClr val="8A908C"/>
                </a:solidFill>
                <a:latin typeface="Arial" pitchFamily="34" charset="0"/>
                <a:ea typeface="Arial" pitchFamily="34" charset="-122"/>
                <a:cs typeface="Arial" pitchFamily="34" charset="-120"/>
              </a:rPr>
              <a:t>↓</a:t>
            </a:r>
            <a:endParaRPr lang="en-US" sz="1200" dirty="0"/>
          </a:p>
        </p:txBody>
      </p:sp>
      <p:sp>
        <p:nvSpPr>
          <p:cNvPr id="21" name="Shape 19"/>
          <p:cNvSpPr/>
          <p:nvPr/>
        </p:nvSpPr>
        <p:spPr>
          <a:xfrm>
            <a:off x="5623560" y="3374136"/>
            <a:ext cx="3017520" cy="658368"/>
          </a:xfrm>
          <a:prstGeom prst="rect">
            <a:avLst/>
          </a:prstGeom>
          <a:solidFill>
            <a:srgbClr val="17302B"/>
          </a:solidFill>
          <a:ln w="9525">
            <a:solidFill>
              <a:srgbClr val="35473F"/>
            </a:solidFill>
            <a:prstDash val="solid"/>
          </a:ln>
        </p:spPr>
      </p:sp>
      <p:sp>
        <p:nvSpPr>
          <p:cNvPr id="22" name="Text 20"/>
          <p:cNvSpPr/>
          <p:nvPr/>
        </p:nvSpPr>
        <p:spPr>
          <a:xfrm>
            <a:off x="5788152" y="3456432"/>
            <a:ext cx="2688336" cy="256032"/>
          </a:xfrm>
          <a:prstGeom prst="rect">
            <a:avLst/>
          </a:prstGeom>
          <a:noFill/>
          <a:ln/>
        </p:spPr>
        <p:txBody>
          <a:bodyPr wrap="square" rtlCol="0" anchor="ctr"/>
          <a:lstStyle/>
          <a:p>
            <a:pPr indent="0" marL="0">
              <a:buNone/>
            </a:pPr>
            <a:r>
              <a:rPr lang="en-US" sz="1200" b="1" dirty="0">
                <a:solidFill>
                  <a:srgbClr val="EDEEE8"/>
                </a:solidFill>
                <a:latin typeface="Arial" pitchFamily="34" charset="0"/>
                <a:ea typeface="Arial" pitchFamily="34" charset="-122"/>
                <a:cs typeface="Arial" pitchFamily="34" charset="-120"/>
              </a:rPr>
              <a:t>Volets + fenêtres motorisés</a:t>
            </a:r>
            <a:endParaRPr lang="en-US" sz="1200" dirty="0"/>
          </a:p>
        </p:txBody>
      </p:sp>
      <p:sp>
        <p:nvSpPr>
          <p:cNvPr id="23" name="Text 21"/>
          <p:cNvSpPr/>
          <p:nvPr/>
        </p:nvSpPr>
        <p:spPr>
          <a:xfrm>
            <a:off x="5788152" y="3712464"/>
            <a:ext cx="2688336" cy="237744"/>
          </a:xfrm>
          <a:prstGeom prst="rect">
            <a:avLst/>
          </a:prstGeom>
          <a:noFill/>
          <a:ln/>
        </p:spPr>
        <p:txBody>
          <a:bodyPr wrap="square" rtlCol="0" anchor="ctr"/>
          <a:lstStyle/>
          <a:p>
            <a:pPr indent="0" marL="0">
              <a:buNone/>
            </a:pPr>
            <a:r>
              <a:rPr lang="en-US" sz="950" dirty="0">
                <a:solidFill>
                  <a:srgbClr val="8A908C"/>
                </a:solidFill>
                <a:latin typeface="Arial" pitchFamily="34" charset="0"/>
                <a:ea typeface="Arial" pitchFamily="34" charset="-122"/>
                <a:cs typeface="Arial" pitchFamily="34" charset="-120"/>
              </a:rPr>
              <a:t>sélectionnés et installés par nous</a:t>
            </a:r>
            <a:endParaRPr lang="en-US" sz="950" dirty="0"/>
          </a:p>
        </p:txBody>
      </p:sp>
      <p:sp>
        <p:nvSpPr>
          <p:cNvPr id="24" name="Shape 22"/>
          <p:cNvSpPr/>
          <p:nvPr/>
        </p:nvSpPr>
        <p:spPr>
          <a:xfrm>
            <a:off x="5623560" y="4178808"/>
            <a:ext cx="3017520" cy="384048"/>
          </a:xfrm>
          <a:prstGeom prst="rect">
            <a:avLst/>
          </a:prstGeom>
          <a:solidFill>
            <a:srgbClr val="17302B"/>
          </a:solidFill>
          <a:ln w="9525">
            <a:solidFill>
              <a:srgbClr val="35473F"/>
            </a:solidFill>
            <a:prstDash val="solid"/>
          </a:ln>
        </p:spPr>
      </p:sp>
      <p:sp>
        <p:nvSpPr>
          <p:cNvPr id="25" name="Text 23"/>
          <p:cNvSpPr/>
          <p:nvPr/>
        </p:nvSpPr>
        <p:spPr>
          <a:xfrm>
            <a:off x="5623560" y="4178808"/>
            <a:ext cx="3017520" cy="384048"/>
          </a:xfrm>
          <a:prstGeom prst="rect">
            <a:avLst/>
          </a:prstGeom>
          <a:noFill/>
          <a:ln/>
        </p:spPr>
        <p:txBody>
          <a:bodyPr wrap="square" rtlCol="0" anchor="ctr"/>
          <a:lstStyle/>
          <a:p>
            <a:pPr algn="ctr" indent="0" marL="0">
              <a:buNone/>
            </a:pPr>
            <a:r>
              <a:rPr lang="en-US" sz="1000" dirty="0">
                <a:solidFill>
                  <a:srgbClr val="EDEEE8"/>
                </a:solidFill>
                <a:latin typeface="Arial" pitchFamily="34" charset="0"/>
                <a:ea typeface="Arial" pitchFamily="34" charset="-122"/>
                <a:cs typeface="Arial" pitchFamily="34" charset="-120"/>
              </a:rPr>
              <a:t>Installation · maintenance · assistance</a:t>
            </a:r>
            <a:endParaRPr lang="en-US" sz="1000" dirty="0"/>
          </a:p>
        </p:txBody>
      </p:sp>
      <p:sp>
        <p:nvSpPr>
          <p:cNvPr id="26" name="Text 24"/>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8A908C"/>
                </a:solidFill>
                <a:latin typeface="Arial" pitchFamily="34" charset="0"/>
                <a:ea typeface="Arial" pitchFamily="34" charset="-122"/>
                <a:cs typeface="Arial" pitchFamily="34" charset="-120"/>
              </a:rPr>
              <a:t>Ombrair — produits et services</a:t>
            </a:r>
            <a:endParaRPr lang="en-US" sz="900" dirty="0"/>
          </a:p>
        </p:txBody>
      </p:sp>
      <p:sp>
        <p:nvSpPr>
          <p:cNvPr id="27" name="Text 25"/>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8A908C"/>
                </a:solidFill>
                <a:latin typeface="Consolas" pitchFamily="34" charset="0"/>
                <a:ea typeface="Consolas" pitchFamily="34" charset="-122"/>
                <a:cs typeface="Consola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CE QU'OMBRAIR CONÇOIT ET FABRIQUE</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Notre technologie : les capteurs Ombrair</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Shape 3"/>
          <p:cNvSpPr/>
          <p:nvPr/>
        </p:nvSpPr>
        <p:spPr>
          <a:xfrm>
            <a:off x="502920" y="1508760"/>
            <a:ext cx="1828800" cy="1051560"/>
          </a:xfrm>
          <a:prstGeom prst="rect">
            <a:avLst/>
          </a:prstGeom>
          <a:solidFill>
            <a:srgbClr val="1E3A35"/>
          </a:solidFill>
          <a:ln w="9525">
            <a:solidFill>
              <a:srgbClr val="C8CEC8"/>
            </a:solidFill>
            <a:prstDash val="solid"/>
          </a:ln>
        </p:spPr>
      </p:sp>
      <p:sp>
        <p:nvSpPr>
          <p:cNvPr id="6" name="Text 4"/>
          <p:cNvSpPr/>
          <p:nvPr/>
        </p:nvSpPr>
        <p:spPr>
          <a:xfrm>
            <a:off x="667512" y="1636776"/>
            <a:ext cx="1499616" cy="219456"/>
          </a:xfrm>
          <a:prstGeom prst="rect">
            <a:avLst/>
          </a:prstGeom>
          <a:noFill/>
          <a:ln/>
        </p:spPr>
        <p:txBody>
          <a:bodyPr wrap="square" rtlCol="0" anchor="ctr"/>
          <a:lstStyle/>
          <a:p>
            <a:pPr indent="0" marL="0">
              <a:buNone/>
            </a:pPr>
            <a:r>
              <a:rPr lang="en-US" sz="1000" dirty="0">
                <a:solidFill>
                  <a:srgbClr val="8A908C"/>
                </a:solidFill>
                <a:latin typeface="Consolas" pitchFamily="34" charset="0"/>
                <a:ea typeface="Consolas" pitchFamily="34" charset="-122"/>
                <a:cs typeface="Consolas" pitchFamily="34" charset="-120"/>
              </a:rPr>
              <a:t>01</a:t>
            </a:r>
            <a:endParaRPr lang="en-US" sz="1000" dirty="0"/>
          </a:p>
        </p:txBody>
      </p:sp>
      <p:sp>
        <p:nvSpPr>
          <p:cNvPr id="7" name="Text 5"/>
          <p:cNvSpPr/>
          <p:nvPr/>
        </p:nvSpPr>
        <p:spPr>
          <a:xfrm>
            <a:off x="667512" y="1911096"/>
            <a:ext cx="1499616" cy="502920"/>
          </a:xfrm>
          <a:prstGeom prst="rect">
            <a:avLst/>
          </a:prstGeom>
          <a:noFill/>
          <a:ln/>
        </p:spPr>
        <p:txBody>
          <a:bodyPr wrap="square" rtlCol="0" anchor="ctr"/>
          <a:lstStyle/>
          <a:p>
            <a:pPr indent="0" marL="0">
              <a:buNone/>
            </a:pPr>
            <a:r>
              <a:rPr lang="en-US" sz="1400" b="1" dirty="0">
                <a:solidFill>
                  <a:srgbClr val="EDEEE8"/>
                </a:solidFill>
                <a:latin typeface="Arial" pitchFamily="34" charset="0"/>
                <a:ea typeface="Arial" pitchFamily="34" charset="-122"/>
                <a:cs typeface="Arial" pitchFamily="34" charset="-120"/>
              </a:rPr>
              <a:t>Nous concevons</a:t>
            </a:r>
            <a:endParaRPr lang="en-US" sz="1400" dirty="0"/>
          </a:p>
        </p:txBody>
      </p:sp>
      <p:sp>
        <p:nvSpPr>
          <p:cNvPr id="8" name="Text 6"/>
          <p:cNvSpPr/>
          <p:nvPr/>
        </p:nvSpPr>
        <p:spPr>
          <a:xfrm>
            <a:off x="2331720" y="1874520"/>
            <a:ext cx="274320" cy="274320"/>
          </a:xfrm>
          <a:prstGeom prst="rect">
            <a:avLst/>
          </a:prstGeom>
          <a:noFill/>
          <a:ln/>
        </p:spPr>
        <p:txBody>
          <a:bodyPr wrap="square" rtlCol="0" anchor="ctr"/>
          <a:lstStyle/>
          <a:p>
            <a:pPr algn="ctr" indent="0" marL="0">
              <a:buNone/>
            </a:pPr>
            <a:r>
              <a:rPr lang="en-US" sz="1300" dirty="0">
                <a:solidFill>
                  <a:srgbClr val="667974"/>
                </a:solidFill>
                <a:latin typeface="Arial" pitchFamily="34" charset="0"/>
                <a:ea typeface="Arial" pitchFamily="34" charset="-122"/>
                <a:cs typeface="Arial" pitchFamily="34" charset="-120"/>
              </a:rPr>
              <a:t>→</a:t>
            </a:r>
            <a:endParaRPr lang="en-US" sz="1300" dirty="0"/>
          </a:p>
        </p:txBody>
      </p:sp>
      <p:sp>
        <p:nvSpPr>
          <p:cNvPr id="9" name="Shape 7"/>
          <p:cNvSpPr/>
          <p:nvPr/>
        </p:nvSpPr>
        <p:spPr>
          <a:xfrm>
            <a:off x="2606040" y="1508760"/>
            <a:ext cx="1828800" cy="1051560"/>
          </a:xfrm>
          <a:prstGeom prst="rect">
            <a:avLst/>
          </a:prstGeom>
          <a:solidFill>
            <a:srgbClr val="1E3A35"/>
          </a:solidFill>
          <a:ln w="9525">
            <a:solidFill>
              <a:srgbClr val="C8CEC8"/>
            </a:solidFill>
            <a:prstDash val="solid"/>
          </a:ln>
        </p:spPr>
      </p:sp>
      <p:sp>
        <p:nvSpPr>
          <p:cNvPr id="10" name="Text 8"/>
          <p:cNvSpPr/>
          <p:nvPr/>
        </p:nvSpPr>
        <p:spPr>
          <a:xfrm>
            <a:off x="2770632" y="1636776"/>
            <a:ext cx="1499616" cy="219456"/>
          </a:xfrm>
          <a:prstGeom prst="rect">
            <a:avLst/>
          </a:prstGeom>
          <a:noFill/>
          <a:ln/>
        </p:spPr>
        <p:txBody>
          <a:bodyPr wrap="square" rtlCol="0" anchor="ctr"/>
          <a:lstStyle/>
          <a:p>
            <a:pPr indent="0" marL="0">
              <a:buNone/>
            </a:pPr>
            <a:r>
              <a:rPr lang="en-US" sz="1000" dirty="0">
                <a:solidFill>
                  <a:srgbClr val="8A908C"/>
                </a:solidFill>
                <a:latin typeface="Consolas" pitchFamily="34" charset="0"/>
                <a:ea typeface="Consolas" pitchFamily="34" charset="-122"/>
                <a:cs typeface="Consolas" pitchFamily="34" charset="-120"/>
              </a:rPr>
              <a:t>02</a:t>
            </a:r>
            <a:endParaRPr lang="en-US" sz="1000" dirty="0"/>
          </a:p>
        </p:txBody>
      </p:sp>
      <p:sp>
        <p:nvSpPr>
          <p:cNvPr id="11" name="Text 9"/>
          <p:cNvSpPr/>
          <p:nvPr/>
        </p:nvSpPr>
        <p:spPr>
          <a:xfrm>
            <a:off x="2770632" y="1911096"/>
            <a:ext cx="1499616" cy="502920"/>
          </a:xfrm>
          <a:prstGeom prst="rect">
            <a:avLst/>
          </a:prstGeom>
          <a:noFill/>
          <a:ln/>
        </p:spPr>
        <p:txBody>
          <a:bodyPr wrap="square" rtlCol="0" anchor="ctr"/>
          <a:lstStyle/>
          <a:p>
            <a:pPr indent="0" marL="0">
              <a:buNone/>
            </a:pPr>
            <a:r>
              <a:rPr lang="en-US" sz="1400" b="1" dirty="0">
                <a:solidFill>
                  <a:srgbClr val="EDEEE8"/>
                </a:solidFill>
                <a:latin typeface="Arial" pitchFamily="34" charset="0"/>
                <a:ea typeface="Arial" pitchFamily="34" charset="-122"/>
                <a:cs typeface="Arial" pitchFamily="34" charset="-120"/>
              </a:rPr>
              <a:t>Nous fabriquons</a:t>
            </a:r>
            <a:endParaRPr lang="en-US" sz="1400" dirty="0"/>
          </a:p>
        </p:txBody>
      </p:sp>
      <p:sp>
        <p:nvSpPr>
          <p:cNvPr id="12" name="Text 10"/>
          <p:cNvSpPr/>
          <p:nvPr/>
        </p:nvSpPr>
        <p:spPr>
          <a:xfrm>
            <a:off x="4434840" y="1874520"/>
            <a:ext cx="274320" cy="274320"/>
          </a:xfrm>
          <a:prstGeom prst="rect">
            <a:avLst/>
          </a:prstGeom>
          <a:noFill/>
          <a:ln/>
        </p:spPr>
        <p:txBody>
          <a:bodyPr wrap="square" rtlCol="0" anchor="ctr"/>
          <a:lstStyle/>
          <a:p>
            <a:pPr algn="ctr" indent="0" marL="0">
              <a:buNone/>
            </a:pPr>
            <a:r>
              <a:rPr lang="en-US" sz="1300" dirty="0">
                <a:solidFill>
                  <a:srgbClr val="667974"/>
                </a:solidFill>
                <a:latin typeface="Arial" pitchFamily="34" charset="0"/>
                <a:ea typeface="Arial" pitchFamily="34" charset="-122"/>
                <a:cs typeface="Arial" pitchFamily="34" charset="-120"/>
              </a:rPr>
              <a:t>→</a:t>
            </a:r>
            <a:endParaRPr lang="en-US" sz="1300" dirty="0"/>
          </a:p>
        </p:txBody>
      </p:sp>
      <p:sp>
        <p:nvSpPr>
          <p:cNvPr id="13" name="Shape 11"/>
          <p:cNvSpPr/>
          <p:nvPr/>
        </p:nvSpPr>
        <p:spPr>
          <a:xfrm>
            <a:off x="4709160" y="1508760"/>
            <a:ext cx="1828800" cy="1051560"/>
          </a:xfrm>
          <a:prstGeom prst="rect">
            <a:avLst/>
          </a:prstGeom>
          <a:solidFill>
            <a:srgbClr val="1E3A35"/>
          </a:solidFill>
          <a:ln w="9525">
            <a:solidFill>
              <a:srgbClr val="C8CEC8"/>
            </a:solidFill>
            <a:prstDash val="solid"/>
          </a:ln>
        </p:spPr>
      </p:sp>
      <p:sp>
        <p:nvSpPr>
          <p:cNvPr id="14" name="Text 12"/>
          <p:cNvSpPr/>
          <p:nvPr/>
        </p:nvSpPr>
        <p:spPr>
          <a:xfrm>
            <a:off x="4873752" y="1636776"/>
            <a:ext cx="1499616" cy="219456"/>
          </a:xfrm>
          <a:prstGeom prst="rect">
            <a:avLst/>
          </a:prstGeom>
          <a:noFill/>
          <a:ln/>
        </p:spPr>
        <p:txBody>
          <a:bodyPr wrap="square" rtlCol="0" anchor="ctr"/>
          <a:lstStyle/>
          <a:p>
            <a:pPr indent="0" marL="0">
              <a:buNone/>
            </a:pPr>
            <a:r>
              <a:rPr lang="en-US" sz="1000" dirty="0">
                <a:solidFill>
                  <a:srgbClr val="8A908C"/>
                </a:solidFill>
                <a:latin typeface="Consolas" pitchFamily="34" charset="0"/>
                <a:ea typeface="Consolas" pitchFamily="34" charset="-122"/>
                <a:cs typeface="Consolas" pitchFamily="34" charset="-120"/>
              </a:rPr>
              <a:t>03</a:t>
            </a:r>
            <a:endParaRPr lang="en-US" sz="1000" dirty="0"/>
          </a:p>
        </p:txBody>
      </p:sp>
      <p:sp>
        <p:nvSpPr>
          <p:cNvPr id="15" name="Text 13"/>
          <p:cNvSpPr/>
          <p:nvPr/>
        </p:nvSpPr>
        <p:spPr>
          <a:xfrm>
            <a:off x="4873752" y="1911096"/>
            <a:ext cx="1499616" cy="502920"/>
          </a:xfrm>
          <a:prstGeom prst="rect">
            <a:avLst/>
          </a:prstGeom>
          <a:noFill/>
          <a:ln/>
        </p:spPr>
        <p:txBody>
          <a:bodyPr wrap="square" rtlCol="0" anchor="ctr"/>
          <a:lstStyle/>
          <a:p>
            <a:pPr indent="0" marL="0">
              <a:buNone/>
            </a:pPr>
            <a:r>
              <a:rPr lang="en-US" sz="1400" b="1" dirty="0">
                <a:solidFill>
                  <a:srgbClr val="EDEEE8"/>
                </a:solidFill>
                <a:latin typeface="Arial" pitchFamily="34" charset="0"/>
                <a:ea typeface="Arial" pitchFamily="34" charset="-122"/>
                <a:cs typeface="Arial" pitchFamily="34" charset="-120"/>
              </a:rPr>
              <a:t>Nous installons</a:t>
            </a:r>
            <a:endParaRPr lang="en-US" sz="1400" dirty="0"/>
          </a:p>
        </p:txBody>
      </p:sp>
      <p:sp>
        <p:nvSpPr>
          <p:cNvPr id="16" name="Text 14"/>
          <p:cNvSpPr/>
          <p:nvPr/>
        </p:nvSpPr>
        <p:spPr>
          <a:xfrm>
            <a:off x="6537960" y="1874520"/>
            <a:ext cx="274320" cy="274320"/>
          </a:xfrm>
          <a:prstGeom prst="rect">
            <a:avLst/>
          </a:prstGeom>
          <a:noFill/>
          <a:ln/>
        </p:spPr>
        <p:txBody>
          <a:bodyPr wrap="square" rtlCol="0" anchor="ctr"/>
          <a:lstStyle/>
          <a:p>
            <a:pPr algn="ctr" indent="0" marL="0">
              <a:buNone/>
            </a:pPr>
            <a:r>
              <a:rPr lang="en-US" sz="1300" dirty="0">
                <a:solidFill>
                  <a:srgbClr val="667974"/>
                </a:solidFill>
                <a:latin typeface="Arial" pitchFamily="34" charset="0"/>
                <a:ea typeface="Arial" pitchFamily="34" charset="-122"/>
                <a:cs typeface="Arial" pitchFamily="34" charset="-120"/>
              </a:rPr>
              <a:t>→</a:t>
            </a:r>
            <a:endParaRPr lang="en-US" sz="1300" dirty="0"/>
          </a:p>
        </p:txBody>
      </p:sp>
      <p:sp>
        <p:nvSpPr>
          <p:cNvPr id="17" name="Shape 15"/>
          <p:cNvSpPr/>
          <p:nvPr/>
        </p:nvSpPr>
        <p:spPr>
          <a:xfrm>
            <a:off x="6812280" y="1508760"/>
            <a:ext cx="1828800" cy="1051560"/>
          </a:xfrm>
          <a:prstGeom prst="rect">
            <a:avLst/>
          </a:prstGeom>
          <a:solidFill>
            <a:srgbClr val="1E3A35"/>
          </a:solidFill>
          <a:ln w="9525">
            <a:solidFill>
              <a:srgbClr val="C8CEC8"/>
            </a:solidFill>
            <a:prstDash val="solid"/>
          </a:ln>
        </p:spPr>
      </p:sp>
      <p:sp>
        <p:nvSpPr>
          <p:cNvPr id="18" name="Text 16"/>
          <p:cNvSpPr/>
          <p:nvPr/>
        </p:nvSpPr>
        <p:spPr>
          <a:xfrm>
            <a:off x="6976872" y="1636776"/>
            <a:ext cx="1499616" cy="219456"/>
          </a:xfrm>
          <a:prstGeom prst="rect">
            <a:avLst/>
          </a:prstGeom>
          <a:noFill/>
          <a:ln/>
        </p:spPr>
        <p:txBody>
          <a:bodyPr wrap="square" rtlCol="0" anchor="ctr"/>
          <a:lstStyle/>
          <a:p>
            <a:pPr indent="0" marL="0">
              <a:buNone/>
            </a:pPr>
            <a:r>
              <a:rPr lang="en-US" sz="1000" dirty="0">
                <a:solidFill>
                  <a:srgbClr val="8A908C"/>
                </a:solidFill>
                <a:latin typeface="Consolas" pitchFamily="34" charset="0"/>
                <a:ea typeface="Consolas" pitchFamily="34" charset="-122"/>
                <a:cs typeface="Consolas" pitchFamily="34" charset="-120"/>
              </a:rPr>
              <a:t>04</a:t>
            </a:r>
            <a:endParaRPr lang="en-US" sz="1000" dirty="0"/>
          </a:p>
        </p:txBody>
      </p:sp>
      <p:sp>
        <p:nvSpPr>
          <p:cNvPr id="19" name="Text 17"/>
          <p:cNvSpPr/>
          <p:nvPr/>
        </p:nvSpPr>
        <p:spPr>
          <a:xfrm>
            <a:off x="6976872" y="1911096"/>
            <a:ext cx="1499616" cy="502920"/>
          </a:xfrm>
          <a:prstGeom prst="rect">
            <a:avLst/>
          </a:prstGeom>
          <a:noFill/>
          <a:ln/>
        </p:spPr>
        <p:txBody>
          <a:bodyPr wrap="square" rtlCol="0" anchor="ctr"/>
          <a:lstStyle/>
          <a:p>
            <a:pPr indent="0" marL="0">
              <a:buNone/>
            </a:pPr>
            <a:r>
              <a:rPr lang="en-US" sz="1400" b="1" dirty="0">
                <a:solidFill>
                  <a:srgbClr val="EDEEE8"/>
                </a:solidFill>
                <a:latin typeface="Arial" pitchFamily="34" charset="0"/>
                <a:ea typeface="Arial" pitchFamily="34" charset="-122"/>
                <a:cs typeface="Arial" pitchFamily="34" charset="-120"/>
              </a:rPr>
              <a:t>Nous maintenons</a:t>
            </a:r>
            <a:endParaRPr lang="en-US" sz="1400" dirty="0"/>
          </a:p>
        </p:txBody>
      </p:sp>
      <p:sp>
        <p:nvSpPr>
          <p:cNvPr id="20" name="Text 18"/>
          <p:cNvSpPr/>
          <p:nvPr/>
        </p:nvSpPr>
        <p:spPr>
          <a:xfrm>
            <a:off x="502920" y="2880360"/>
            <a:ext cx="8138160" cy="274320"/>
          </a:xfrm>
          <a:prstGeom prst="rect">
            <a:avLst/>
          </a:prstGeom>
          <a:noFill/>
          <a:ln/>
        </p:spPr>
        <p:txBody>
          <a:bodyPr wrap="square" rtlCol="0" anchor="ctr"/>
          <a:lstStyle/>
          <a:p>
            <a:pPr indent="0" marL="0">
              <a:buNone/>
            </a:pPr>
            <a:r>
              <a:rPr lang="en-US" sz="1300" b="1" dirty="0">
                <a:solidFill>
                  <a:srgbClr val="1E3A35"/>
                </a:solidFill>
                <a:latin typeface="Arial" pitchFamily="34" charset="0"/>
                <a:ea typeface="Arial" pitchFamily="34" charset="-122"/>
                <a:cs typeface="Arial" pitchFamily="34" charset="-120"/>
              </a:rPr>
              <a:t>Ce que les capteurs mesurent</a:t>
            </a:r>
            <a:endParaRPr lang="en-US" sz="1300" dirty="0"/>
          </a:p>
        </p:txBody>
      </p:sp>
      <p:sp>
        <p:nvSpPr>
          <p:cNvPr id="21" name="Shape 19"/>
          <p:cNvSpPr/>
          <p:nvPr/>
        </p:nvSpPr>
        <p:spPr>
          <a:xfrm>
            <a:off x="502920" y="3246120"/>
            <a:ext cx="1863090" cy="457200"/>
          </a:xfrm>
          <a:prstGeom prst="rect">
            <a:avLst/>
          </a:prstGeom>
          <a:solidFill>
            <a:srgbClr val="E4E6DF"/>
          </a:solidFill>
          <a:ln w="9525">
            <a:solidFill>
              <a:srgbClr val="C8CEC8"/>
            </a:solidFill>
            <a:prstDash val="solid"/>
          </a:ln>
        </p:spPr>
      </p:sp>
      <p:sp>
        <p:nvSpPr>
          <p:cNvPr id="22" name="Text 20"/>
          <p:cNvSpPr/>
          <p:nvPr/>
        </p:nvSpPr>
        <p:spPr>
          <a:xfrm>
            <a:off x="502920" y="3246120"/>
            <a:ext cx="1863090" cy="457200"/>
          </a:xfrm>
          <a:prstGeom prst="rect">
            <a:avLst/>
          </a:prstGeom>
          <a:noFill/>
          <a:ln/>
        </p:spPr>
        <p:txBody>
          <a:bodyPr wrap="square" rtlCol="0" anchor="ctr"/>
          <a:lstStyle/>
          <a:p>
            <a:pPr algn="ctr" indent="0" marL="0">
              <a:buNone/>
            </a:pPr>
            <a:r>
              <a:rPr lang="en-US" sz="1150" dirty="0">
                <a:solidFill>
                  <a:srgbClr val="1E3A35"/>
                </a:solidFill>
                <a:latin typeface="Arial" pitchFamily="34" charset="0"/>
                <a:ea typeface="Arial" pitchFamily="34" charset="-122"/>
                <a:cs typeface="Arial" pitchFamily="34" charset="-120"/>
              </a:rPr>
              <a:t>Température</a:t>
            </a:r>
            <a:endParaRPr lang="en-US" sz="1150" dirty="0"/>
          </a:p>
        </p:txBody>
      </p:sp>
      <p:sp>
        <p:nvSpPr>
          <p:cNvPr id="23" name="Shape 21"/>
          <p:cNvSpPr/>
          <p:nvPr/>
        </p:nvSpPr>
        <p:spPr>
          <a:xfrm>
            <a:off x="2594610" y="3246120"/>
            <a:ext cx="1863090" cy="457200"/>
          </a:xfrm>
          <a:prstGeom prst="rect">
            <a:avLst/>
          </a:prstGeom>
          <a:solidFill>
            <a:srgbClr val="E4E6DF"/>
          </a:solidFill>
          <a:ln w="9525">
            <a:solidFill>
              <a:srgbClr val="C8CEC8"/>
            </a:solidFill>
            <a:prstDash val="solid"/>
          </a:ln>
        </p:spPr>
      </p:sp>
      <p:sp>
        <p:nvSpPr>
          <p:cNvPr id="24" name="Text 22"/>
          <p:cNvSpPr/>
          <p:nvPr/>
        </p:nvSpPr>
        <p:spPr>
          <a:xfrm>
            <a:off x="2594610" y="3246120"/>
            <a:ext cx="1863090" cy="457200"/>
          </a:xfrm>
          <a:prstGeom prst="rect">
            <a:avLst/>
          </a:prstGeom>
          <a:noFill/>
          <a:ln/>
        </p:spPr>
        <p:txBody>
          <a:bodyPr wrap="square" rtlCol="0" anchor="ctr"/>
          <a:lstStyle/>
          <a:p>
            <a:pPr algn="ctr" indent="0" marL="0">
              <a:buNone/>
            </a:pPr>
            <a:r>
              <a:rPr lang="en-US" sz="1150" dirty="0">
                <a:solidFill>
                  <a:srgbClr val="1E3A35"/>
                </a:solidFill>
                <a:latin typeface="Arial" pitchFamily="34" charset="0"/>
                <a:ea typeface="Arial" pitchFamily="34" charset="-122"/>
                <a:cs typeface="Arial" pitchFamily="34" charset="-120"/>
              </a:rPr>
              <a:t>Humidité</a:t>
            </a:r>
            <a:endParaRPr lang="en-US" sz="1150" dirty="0"/>
          </a:p>
        </p:txBody>
      </p:sp>
      <p:sp>
        <p:nvSpPr>
          <p:cNvPr id="25" name="Shape 23"/>
          <p:cNvSpPr/>
          <p:nvPr/>
        </p:nvSpPr>
        <p:spPr>
          <a:xfrm>
            <a:off x="4686300" y="3246120"/>
            <a:ext cx="1863090" cy="457200"/>
          </a:xfrm>
          <a:prstGeom prst="rect">
            <a:avLst/>
          </a:prstGeom>
          <a:solidFill>
            <a:srgbClr val="E4E6DF"/>
          </a:solidFill>
          <a:ln w="9525">
            <a:solidFill>
              <a:srgbClr val="C8CEC8"/>
            </a:solidFill>
            <a:prstDash val="solid"/>
          </a:ln>
        </p:spPr>
      </p:sp>
      <p:sp>
        <p:nvSpPr>
          <p:cNvPr id="26" name="Text 24"/>
          <p:cNvSpPr/>
          <p:nvPr/>
        </p:nvSpPr>
        <p:spPr>
          <a:xfrm>
            <a:off x="4686300" y="3246120"/>
            <a:ext cx="1863090" cy="457200"/>
          </a:xfrm>
          <a:prstGeom prst="rect">
            <a:avLst/>
          </a:prstGeom>
          <a:noFill/>
          <a:ln/>
        </p:spPr>
        <p:txBody>
          <a:bodyPr wrap="square" rtlCol="0" anchor="ctr"/>
          <a:lstStyle/>
          <a:p>
            <a:pPr algn="ctr" indent="0" marL="0">
              <a:buNone/>
            </a:pPr>
            <a:r>
              <a:rPr lang="en-US" sz="1150" dirty="0">
                <a:solidFill>
                  <a:srgbClr val="1E3A35"/>
                </a:solidFill>
                <a:latin typeface="Arial" pitchFamily="34" charset="0"/>
                <a:ea typeface="Arial" pitchFamily="34" charset="-122"/>
                <a:cs typeface="Arial" pitchFamily="34" charset="-120"/>
              </a:rPr>
              <a:t>Luminosité</a:t>
            </a:r>
            <a:endParaRPr lang="en-US" sz="1150" dirty="0"/>
          </a:p>
        </p:txBody>
      </p:sp>
      <p:sp>
        <p:nvSpPr>
          <p:cNvPr id="27" name="Shape 25"/>
          <p:cNvSpPr/>
          <p:nvPr/>
        </p:nvSpPr>
        <p:spPr>
          <a:xfrm>
            <a:off x="6777990" y="3246120"/>
            <a:ext cx="1863090" cy="457200"/>
          </a:xfrm>
          <a:prstGeom prst="rect">
            <a:avLst/>
          </a:prstGeom>
          <a:solidFill>
            <a:srgbClr val="E4E6DF"/>
          </a:solidFill>
          <a:ln w="9525">
            <a:solidFill>
              <a:srgbClr val="C8CEC8"/>
            </a:solidFill>
            <a:prstDash val="solid"/>
          </a:ln>
        </p:spPr>
      </p:sp>
      <p:sp>
        <p:nvSpPr>
          <p:cNvPr id="28" name="Text 26"/>
          <p:cNvSpPr/>
          <p:nvPr/>
        </p:nvSpPr>
        <p:spPr>
          <a:xfrm>
            <a:off x="6777990" y="3246120"/>
            <a:ext cx="1863090" cy="457200"/>
          </a:xfrm>
          <a:prstGeom prst="rect">
            <a:avLst/>
          </a:prstGeom>
          <a:noFill/>
          <a:ln/>
        </p:spPr>
        <p:txBody>
          <a:bodyPr wrap="square" rtlCol="0" anchor="ctr"/>
          <a:lstStyle/>
          <a:p>
            <a:pPr algn="ctr" indent="0" marL="0">
              <a:buNone/>
            </a:pPr>
            <a:r>
              <a:rPr lang="en-US" sz="1150" dirty="0">
                <a:solidFill>
                  <a:srgbClr val="1E3A35"/>
                </a:solidFill>
                <a:latin typeface="Arial" pitchFamily="34" charset="0"/>
                <a:ea typeface="Arial" pitchFamily="34" charset="-122"/>
                <a:cs typeface="Arial" pitchFamily="34" charset="-120"/>
              </a:rPr>
              <a:t>Qualité de l'air</a:t>
            </a:r>
            <a:endParaRPr lang="en-US" sz="1150" dirty="0"/>
          </a:p>
        </p:txBody>
      </p:sp>
      <p:sp>
        <p:nvSpPr>
          <p:cNvPr id="29" name="Text 27"/>
          <p:cNvSpPr/>
          <p:nvPr/>
        </p:nvSpPr>
        <p:spPr>
          <a:xfrm>
            <a:off x="502920" y="3840480"/>
            <a:ext cx="8138160" cy="274320"/>
          </a:xfrm>
          <a:prstGeom prst="rect">
            <a:avLst/>
          </a:prstGeom>
          <a:noFill/>
          <a:ln/>
        </p:spPr>
        <p:txBody>
          <a:bodyPr wrap="square" rtlCol="0" anchor="ctr"/>
          <a:lstStyle/>
          <a:p>
            <a:pPr indent="0" marL="0">
              <a:buNone/>
            </a:pPr>
            <a:r>
              <a:rPr lang="en-US" sz="1100" dirty="0">
                <a:solidFill>
                  <a:srgbClr val="667974"/>
                </a:solidFill>
                <a:latin typeface="Arial" pitchFamily="34" charset="0"/>
                <a:ea typeface="Arial" pitchFamily="34" charset="-122"/>
                <a:cs typeface="Arial" pitchFamily="34" charset="-120"/>
              </a:rPr>
              <a:t>Capteurs intérieurs et extérieurs, reliés par une passerelle Ombrair.</a:t>
            </a:r>
            <a:endParaRPr lang="en-US" sz="1100" dirty="0"/>
          </a:p>
        </p:txBody>
      </p:sp>
      <p:sp>
        <p:nvSpPr>
          <p:cNvPr id="30" name="Text 28"/>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31" name="Text 29"/>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CE QUI VIENT DE FABRICANTS PARTENAIRES</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Les équipements que nous installons</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Shape 3"/>
          <p:cNvSpPr/>
          <p:nvPr/>
        </p:nvSpPr>
        <p:spPr>
          <a:xfrm>
            <a:off x="502920" y="1508760"/>
            <a:ext cx="5257800" cy="2971800"/>
          </a:xfrm>
          <a:prstGeom prst="rect">
            <a:avLst/>
          </a:prstGeom>
          <a:solidFill>
            <a:srgbClr val="E4E6DF"/>
          </a:solidFill>
          <a:ln w="9525">
            <a:solidFill>
              <a:srgbClr val="C8CEC8"/>
            </a:solidFill>
            <a:prstDash val="solid"/>
          </a:ln>
        </p:spPr>
      </p:sp>
      <p:sp>
        <p:nvSpPr>
          <p:cNvPr id="6" name="Text 4"/>
          <p:cNvSpPr/>
          <p:nvPr/>
        </p:nvSpPr>
        <p:spPr>
          <a:xfrm>
            <a:off x="731520" y="1691640"/>
            <a:ext cx="4800600" cy="274320"/>
          </a:xfrm>
          <a:prstGeom prst="rect">
            <a:avLst/>
          </a:prstGeom>
          <a:noFill/>
          <a:ln/>
        </p:spPr>
        <p:txBody>
          <a:bodyPr wrap="square" rtlCol="0" anchor="ctr"/>
          <a:lstStyle/>
          <a:p>
            <a:pPr indent="0" marL="0">
              <a:buNone/>
            </a:pPr>
            <a:r>
              <a:rPr lang="en-US" sz="1400" b="1" dirty="0">
                <a:solidFill>
                  <a:srgbClr val="1E3A35"/>
                </a:solidFill>
                <a:latin typeface="Arial" pitchFamily="34" charset="0"/>
                <a:ea typeface="Arial" pitchFamily="34" charset="-122"/>
                <a:cs typeface="Arial" pitchFamily="34" charset="-120"/>
              </a:rPr>
              <a:t>Volets électriques  ·  Fenêtres motorisées</a:t>
            </a:r>
            <a:endParaRPr lang="en-US" sz="1400" dirty="0"/>
          </a:p>
        </p:txBody>
      </p:sp>
      <p:sp>
        <p:nvSpPr>
          <p:cNvPr id="7" name="Shape 5"/>
          <p:cNvSpPr/>
          <p:nvPr/>
        </p:nvSpPr>
        <p:spPr>
          <a:xfrm>
            <a:off x="731520" y="2103120"/>
            <a:ext cx="4800600" cy="457200"/>
          </a:xfrm>
          <a:prstGeom prst="rect">
            <a:avLst/>
          </a:prstGeom>
          <a:solidFill>
            <a:srgbClr val="EDEEE8"/>
          </a:solidFill>
          <a:ln w="9525">
            <a:solidFill>
              <a:srgbClr val="C8CEC8"/>
            </a:solidFill>
            <a:prstDash val="solid"/>
          </a:ln>
        </p:spPr>
      </p:sp>
      <p:sp>
        <p:nvSpPr>
          <p:cNvPr id="8" name="Text 6"/>
          <p:cNvSpPr/>
          <p:nvPr/>
        </p:nvSpPr>
        <p:spPr>
          <a:xfrm>
            <a:off x="868680" y="2103120"/>
            <a:ext cx="1737360" cy="457200"/>
          </a:xfrm>
          <a:prstGeom prst="rect">
            <a:avLst/>
          </a:prstGeom>
          <a:noFill/>
          <a:ln/>
        </p:spPr>
        <p:txBody>
          <a:bodyPr wrap="square" rtlCol="0" anchor="ctr"/>
          <a:lstStyle/>
          <a:p>
            <a:pPr indent="0" marL="0">
              <a:buNone/>
            </a:pPr>
            <a:r>
              <a:rPr lang="en-US" sz="1150" b="1" dirty="0">
                <a:solidFill>
                  <a:srgbClr val="1E3A35"/>
                </a:solidFill>
                <a:latin typeface="Arial" pitchFamily="34" charset="0"/>
                <a:ea typeface="Arial" pitchFamily="34" charset="-122"/>
                <a:cs typeface="Arial" pitchFamily="34" charset="-120"/>
              </a:rPr>
              <a:t>Fabricants partenaires</a:t>
            </a:r>
            <a:endParaRPr lang="en-US" sz="1150" dirty="0"/>
          </a:p>
        </p:txBody>
      </p:sp>
      <p:sp>
        <p:nvSpPr>
          <p:cNvPr id="9" name="Text 7"/>
          <p:cNvSpPr/>
          <p:nvPr/>
        </p:nvSpPr>
        <p:spPr>
          <a:xfrm>
            <a:off x="2606040" y="2103120"/>
            <a:ext cx="2926080" cy="457200"/>
          </a:xfrm>
          <a:prstGeom prst="rect">
            <a:avLst/>
          </a:prstGeom>
          <a:noFill/>
          <a:ln/>
        </p:spPr>
        <p:txBody>
          <a:bodyPr wrap="square" rtlCol="0" anchor="ctr"/>
          <a:lstStyle/>
          <a:p>
            <a:pPr algn="r" indent="0" marL="0">
              <a:buNone/>
            </a:pPr>
            <a:r>
              <a:rPr lang="en-US" sz="1000" dirty="0">
                <a:solidFill>
                  <a:srgbClr val="667974"/>
                </a:solidFill>
                <a:latin typeface="Arial" pitchFamily="34" charset="0"/>
                <a:ea typeface="Arial" pitchFamily="34" charset="-122"/>
                <a:cs typeface="Arial" pitchFamily="34" charset="-120"/>
              </a:rPr>
              <a:t>conçoivent et fabriquent</a:t>
            </a:r>
            <a:endParaRPr lang="en-US" sz="1000" dirty="0"/>
          </a:p>
        </p:txBody>
      </p:sp>
      <p:sp>
        <p:nvSpPr>
          <p:cNvPr id="10" name="Text 8"/>
          <p:cNvSpPr/>
          <p:nvPr/>
        </p:nvSpPr>
        <p:spPr>
          <a:xfrm>
            <a:off x="731520" y="2560320"/>
            <a:ext cx="4800600" cy="201168"/>
          </a:xfrm>
          <a:prstGeom prst="rect">
            <a:avLst/>
          </a:prstGeom>
          <a:noFill/>
          <a:ln/>
        </p:spPr>
        <p:txBody>
          <a:bodyPr wrap="square" rtlCol="0" anchor="ctr"/>
          <a:lstStyle/>
          <a:p>
            <a:pPr algn="ctr" indent="0" marL="0">
              <a:buNone/>
            </a:pPr>
            <a:r>
              <a:rPr lang="en-US" sz="1100" dirty="0">
                <a:solidFill>
                  <a:srgbClr val="667974"/>
                </a:solidFill>
                <a:latin typeface="Arial" pitchFamily="34" charset="0"/>
                <a:ea typeface="Arial" pitchFamily="34" charset="-122"/>
                <a:cs typeface="Arial" pitchFamily="34" charset="-120"/>
              </a:rPr>
              <a:t>↓</a:t>
            </a:r>
            <a:endParaRPr lang="en-US" sz="1100" dirty="0"/>
          </a:p>
        </p:txBody>
      </p:sp>
      <p:sp>
        <p:nvSpPr>
          <p:cNvPr id="11" name="Shape 9"/>
          <p:cNvSpPr/>
          <p:nvPr/>
        </p:nvSpPr>
        <p:spPr>
          <a:xfrm>
            <a:off x="731520" y="2761488"/>
            <a:ext cx="4800600" cy="457200"/>
          </a:xfrm>
          <a:prstGeom prst="rect">
            <a:avLst/>
          </a:prstGeom>
          <a:solidFill>
            <a:srgbClr val="1E3A35"/>
          </a:solidFill>
          <a:ln w="9525">
            <a:solidFill>
              <a:srgbClr val="C8CEC8"/>
            </a:solidFill>
            <a:prstDash val="solid"/>
          </a:ln>
        </p:spPr>
      </p:sp>
      <p:sp>
        <p:nvSpPr>
          <p:cNvPr id="12" name="Text 10"/>
          <p:cNvSpPr/>
          <p:nvPr/>
        </p:nvSpPr>
        <p:spPr>
          <a:xfrm>
            <a:off x="868680" y="2761488"/>
            <a:ext cx="1737360" cy="45720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Ombrair</a:t>
            </a:r>
            <a:endParaRPr lang="en-US" sz="1150" dirty="0"/>
          </a:p>
        </p:txBody>
      </p:sp>
      <p:sp>
        <p:nvSpPr>
          <p:cNvPr id="13" name="Text 11"/>
          <p:cNvSpPr/>
          <p:nvPr/>
        </p:nvSpPr>
        <p:spPr>
          <a:xfrm>
            <a:off x="2606040" y="2761488"/>
            <a:ext cx="2926080" cy="457200"/>
          </a:xfrm>
          <a:prstGeom prst="rect">
            <a:avLst/>
          </a:prstGeom>
          <a:noFill/>
          <a:ln/>
        </p:spPr>
        <p:txBody>
          <a:bodyPr wrap="square" rtlCol="0" anchor="ctr"/>
          <a:lstStyle/>
          <a:p>
            <a:pPr algn="r" indent="0" marL="0">
              <a:buNone/>
            </a:pPr>
            <a:r>
              <a:rPr lang="en-US" sz="1000" dirty="0">
                <a:solidFill>
                  <a:srgbClr val="8A908C"/>
                </a:solidFill>
                <a:latin typeface="Arial" pitchFamily="34" charset="0"/>
                <a:ea typeface="Arial" pitchFamily="34" charset="-122"/>
                <a:cs typeface="Arial" pitchFamily="34" charset="-120"/>
              </a:rPr>
              <a:t>sélectionne · revend · installe · configure</a:t>
            </a:r>
            <a:endParaRPr lang="en-US" sz="1000" dirty="0"/>
          </a:p>
        </p:txBody>
      </p:sp>
      <p:sp>
        <p:nvSpPr>
          <p:cNvPr id="14" name="Text 12"/>
          <p:cNvSpPr/>
          <p:nvPr/>
        </p:nvSpPr>
        <p:spPr>
          <a:xfrm>
            <a:off x="731520" y="3218688"/>
            <a:ext cx="4800600" cy="201168"/>
          </a:xfrm>
          <a:prstGeom prst="rect">
            <a:avLst/>
          </a:prstGeom>
          <a:noFill/>
          <a:ln/>
        </p:spPr>
        <p:txBody>
          <a:bodyPr wrap="square" rtlCol="0" anchor="ctr"/>
          <a:lstStyle/>
          <a:p>
            <a:pPr algn="ctr" indent="0" marL="0">
              <a:buNone/>
            </a:pPr>
            <a:r>
              <a:rPr lang="en-US" sz="1100" dirty="0">
                <a:solidFill>
                  <a:srgbClr val="667974"/>
                </a:solidFill>
                <a:latin typeface="Arial" pitchFamily="34" charset="0"/>
                <a:ea typeface="Arial" pitchFamily="34" charset="-122"/>
                <a:cs typeface="Arial" pitchFamily="34" charset="-120"/>
              </a:rPr>
              <a:t>↓</a:t>
            </a:r>
            <a:endParaRPr lang="en-US" sz="1100" dirty="0"/>
          </a:p>
        </p:txBody>
      </p:sp>
      <p:sp>
        <p:nvSpPr>
          <p:cNvPr id="15" name="Shape 13"/>
          <p:cNvSpPr/>
          <p:nvPr/>
        </p:nvSpPr>
        <p:spPr>
          <a:xfrm>
            <a:off x="731520" y="3419856"/>
            <a:ext cx="4800600" cy="457200"/>
          </a:xfrm>
          <a:prstGeom prst="rect">
            <a:avLst/>
          </a:prstGeom>
          <a:solidFill>
            <a:srgbClr val="EDEEE8"/>
          </a:solidFill>
          <a:ln w="9525">
            <a:solidFill>
              <a:srgbClr val="C8CEC8"/>
            </a:solidFill>
            <a:prstDash val="solid"/>
          </a:ln>
        </p:spPr>
      </p:sp>
      <p:sp>
        <p:nvSpPr>
          <p:cNvPr id="16" name="Text 14"/>
          <p:cNvSpPr/>
          <p:nvPr/>
        </p:nvSpPr>
        <p:spPr>
          <a:xfrm>
            <a:off x="868680" y="3419856"/>
            <a:ext cx="1737360" cy="457200"/>
          </a:xfrm>
          <a:prstGeom prst="rect">
            <a:avLst/>
          </a:prstGeom>
          <a:noFill/>
          <a:ln/>
        </p:spPr>
        <p:txBody>
          <a:bodyPr wrap="square" rtlCol="0" anchor="ctr"/>
          <a:lstStyle/>
          <a:p>
            <a:pPr indent="0" marL="0">
              <a:buNone/>
            </a:pPr>
            <a:r>
              <a:rPr lang="en-US" sz="1150" b="1" dirty="0">
                <a:solidFill>
                  <a:srgbClr val="1E3A35"/>
                </a:solidFill>
                <a:latin typeface="Arial" pitchFamily="34" charset="0"/>
                <a:ea typeface="Arial" pitchFamily="34" charset="-122"/>
                <a:cs typeface="Arial" pitchFamily="34" charset="-120"/>
              </a:rPr>
              <a:t>Client</a:t>
            </a:r>
            <a:endParaRPr lang="en-US" sz="1150" dirty="0"/>
          </a:p>
        </p:txBody>
      </p:sp>
      <p:sp>
        <p:nvSpPr>
          <p:cNvPr id="17" name="Text 15"/>
          <p:cNvSpPr/>
          <p:nvPr/>
        </p:nvSpPr>
        <p:spPr>
          <a:xfrm>
            <a:off x="2606040" y="3419856"/>
            <a:ext cx="2926080" cy="457200"/>
          </a:xfrm>
          <a:prstGeom prst="rect">
            <a:avLst/>
          </a:prstGeom>
          <a:noFill/>
          <a:ln/>
        </p:spPr>
        <p:txBody>
          <a:bodyPr wrap="square" rtlCol="0" anchor="ctr"/>
          <a:lstStyle/>
          <a:p>
            <a:pPr algn="r" indent="0" marL="0">
              <a:buNone/>
            </a:pPr>
            <a:r>
              <a:rPr lang="en-US" sz="1000" dirty="0">
                <a:solidFill>
                  <a:srgbClr val="667974"/>
                </a:solidFill>
                <a:latin typeface="Arial" pitchFamily="34" charset="0"/>
                <a:ea typeface="Arial" pitchFamily="34" charset="-122"/>
                <a:cs typeface="Arial" pitchFamily="34" charset="-120"/>
              </a:rPr>
              <a:t>une installation qui fonctionne</a:t>
            </a:r>
            <a:endParaRPr lang="en-US" sz="1000" dirty="0"/>
          </a:p>
        </p:txBody>
      </p:sp>
      <p:sp>
        <p:nvSpPr>
          <p:cNvPr id="18" name="Text 16"/>
          <p:cNvSpPr/>
          <p:nvPr/>
        </p:nvSpPr>
        <p:spPr>
          <a:xfrm>
            <a:off x="731520" y="3986784"/>
            <a:ext cx="4800600" cy="411480"/>
          </a:xfrm>
          <a:prstGeom prst="rect">
            <a:avLst/>
          </a:prstGeom>
          <a:noFill/>
          <a:ln/>
        </p:spPr>
        <p:txBody>
          <a:bodyPr wrap="square" rtlCol="0" anchor="ctr"/>
          <a:lstStyle/>
          <a:p>
            <a:pPr indent="0" marL="0">
              <a:lnSpc>
                <a:spcPts val="1300"/>
              </a:lnSpc>
              <a:buNone/>
            </a:pPr>
            <a:r>
              <a:rPr lang="en-US" sz="1000" i="1" dirty="0">
                <a:solidFill>
                  <a:srgbClr val="667974"/>
                </a:solidFill>
                <a:latin typeface="Arial" pitchFamily="34" charset="0"/>
                <a:ea typeface="Arial" pitchFamily="34" charset="-122"/>
                <a:cs typeface="Arial" pitchFamily="34" charset="-120"/>
              </a:rPr>
              <a:t>Ombrair ne conçoit ni ne fabrique les volets et les fenêtres. Elle les sélectionne, les revend, les installe et les intègre à son écosystème.</a:t>
            </a:r>
            <a:endParaRPr lang="en-US" sz="1000" dirty="0"/>
          </a:p>
        </p:txBody>
      </p:sp>
      <p:sp>
        <p:nvSpPr>
          <p:cNvPr id="19" name="Shape 17"/>
          <p:cNvSpPr/>
          <p:nvPr/>
        </p:nvSpPr>
        <p:spPr>
          <a:xfrm>
            <a:off x="6080760" y="1508760"/>
            <a:ext cx="2560320" cy="2971800"/>
          </a:xfrm>
          <a:prstGeom prst="rect">
            <a:avLst/>
          </a:prstGeom>
          <a:solidFill>
            <a:srgbClr val="1E3A35"/>
          </a:solidFill>
          <a:ln w="9525">
            <a:solidFill>
              <a:srgbClr val="C8CEC8"/>
            </a:solidFill>
            <a:prstDash val="solid"/>
          </a:ln>
        </p:spPr>
      </p:sp>
      <p:sp>
        <p:nvSpPr>
          <p:cNvPr id="20" name="Shape 18"/>
          <p:cNvSpPr/>
          <p:nvPr/>
        </p:nvSpPr>
        <p:spPr>
          <a:xfrm>
            <a:off x="6309360" y="1737360"/>
            <a:ext cx="2103120" cy="41148"/>
          </a:xfrm>
          <a:prstGeom prst="rect">
            <a:avLst/>
          </a:prstGeom>
          <a:solidFill>
            <a:srgbClr val="35473F"/>
          </a:solidFill>
          <a:ln/>
        </p:spPr>
      </p:sp>
      <p:sp>
        <p:nvSpPr>
          <p:cNvPr id="21" name="Shape 19"/>
          <p:cNvSpPr/>
          <p:nvPr/>
        </p:nvSpPr>
        <p:spPr>
          <a:xfrm>
            <a:off x="6309360" y="1847088"/>
            <a:ext cx="2103120" cy="41148"/>
          </a:xfrm>
          <a:prstGeom prst="rect">
            <a:avLst/>
          </a:prstGeom>
          <a:solidFill>
            <a:srgbClr val="35473F"/>
          </a:solidFill>
          <a:ln/>
        </p:spPr>
      </p:sp>
      <p:sp>
        <p:nvSpPr>
          <p:cNvPr id="22" name="Shape 20"/>
          <p:cNvSpPr/>
          <p:nvPr/>
        </p:nvSpPr>
        <p:spPr>
          <a:xfrm>
            <a:off x="6309360" y="1956816"/>
            <a:ext cx="2103120" cy="41148"/>
          </a:xfrm>
          <a:prstGeom prst="rect">
            <a:avLst/>
          </a:prstGeom>
          <a:solidFill>
            <a:srgbClr val="35473F"/>
          </a:solidFill>
          <a:ln/>
        </p:spPr>
      </p:sp>
      <p:sp>
        <p:nvSpPr>
          <p:cNvPr id="23" name="Shape 21"/>
          <p:cNvSpPr/>
          <p:nvPr/>
        </p:nvSpPr>
        <p:spPr>
          <a:xfrm>
            <a:off x="6309360" y="2066544"/>
            <a:ext cx="2103120" cy="41148"/>
          </a:xfrm>
          <a:prstGeom prst="rect">
            <a:avLst/>
          </a:prstGeom>
          <a:solidFill>
            <a:srgbClr val="35473F"/>
          </a:solidFill>
          <a:ln/>
        </p:spPr>
      </p:sp>
      <p:sp>
        <p:nvSpPr>
          <p:cNvPr id="24" name="Text 22"/>
          <p:cNvSpPr/>
          <p:nvPr/>
        </p:nvSpPr>
        <p:spPr>
          <a:xfrm>
            <a:off x="6309360" y="2377440"/>
            <a:ext cx="2103120" cy="274320"/>
          </a:xfrm>
          <a:prstGeom prst="rect">
            <a:avLst/>
          </a:prstGeom>
          <a:noFill/>
          <a:ln/>
        </p:spPr>
        <p:txBody>
          <a:bodyPr wrap="square" rtlCol="0" anchor="ctr"/>
          <a:lstStyle/>
          <a:p>
            <a:pPr indent="0" marL="0">
              <a:buNone/>
            </a:pPr>
            <a:r>
              <a:rPr lang="en-US" sz="1400" b="1" dirty="0">
                <a:solidFill>
                  <a:srgbClr val="EDEEE8"/>
                </a:solidFill>
                <a:latin typeface="Arial" pitchFamily="34" charset="0"/>
                <a:ea typeface="Arial" pitchFamily="34" charset="-122"/>
                <a:cs typeface="Arial" pitchFamily="34" charset="-120"/>
              </a:rPr>
              <a:t>Capteurs Ombrair</a:t>
            </a:r>
            <a:endParaRPr lang="en-US" sz="1400" dirty="0"/>
          </a:p>
        </p:txBody>
      </p:sp>
      <p:sp>
        <p:nvSpPr>
          <p:cNvPr id="25" name="Text 23"/>
          <p:cNvSpPr/>
          <p:nvPr/>
        </p:nvSpPr>
        <p:spPr>
          <a:xfrm>
            <a:off x="6309360" y="2697480"/>
            <a:ext cx="2103120" cy="365760"/>
          </a:xfrm>
          <a:prstGeom prst="rect">
            <a:avLst/>
          </a:prstGeom>
          <a:noFill/>
          <a:ln/>
        </p:spPr>
        <p:txBody>
          <a:bodyPr wrap="square" rtlCol="0" anchor="ctr"/>
          <a:lstStyle/>
          <a:p>
            <a:pPr indent="0" marL="0">
              <a:lnSpc>
                <a:spcPts val="1400"/>
              </a:lnSpc>
              <a:buNone/>
            </a:pPr>
            <a:r>
              <a:rPr lang="en-US" sz="1100" dirty="0">
                <a:solidFill>
                  <a:srgbClr val="EDEEE8"/>
                </a:solidFill>
                <a:latin typeface="Arial" pitchFamily="34" charset="0"/>
                <a:ea typeface="Arial" pitchFamily="34" charset="-122"/>
                <a:cs typeface="Arial" pitchFamily="34" charset="-120"/>
              </a:rPr>
              <a:t>Conçus et fabriqués par Ombrair.</a:t>
            </a:r>
            <a:endParaRPr lang="en-US" sz="1100" dirty="0"/>
          </a:p>
        </p:txBody>
      </p:sp>
      <p:sp>
        <p:nvSpPr>
          <p:cNvPr id="26" name="Text 24"/>
          <p:cNvSpPr/>
          <p:nvPr/>
        </p:nvSpPr>
        <p:spPr>
          <a:xfrm>
            <a:off x="6309360" y="3154680"/>
            <a:ext cx="2103120" cy="685800"/>
          </a:xfrm>
          <a:prstGeom prst="rect">
            <a:avLst/>
          </a:prstGeom>
          <a:noFill/>
          <a:ln/>
        </p:spPr>
        <p:txBody>
          <a:bodyPr wrap="square" rtlCol="0" anchor="ctr"/>
          <a:lstStyle/>
          <a:p>
            <a:pPr indent="0" marL="0">
              <a:lnSpc>
                <a:spcPts val="1300"/>
              </a:lnSpc>
              <a:buNone/>
            </a:pPr>
            <a:r>
              <a:rPr lang="en-US" sz="1000" dirty="0">
                <a:solidFill>
                  <a:srgbClr val="8A908C"/>
                </a:solidFill>
                <a:latin typeface="Arial" pitchFamily="34" charset="0"/>
                <a:ea typeface="Arial" pitchFamily="34" charset="-122"/>
                <a:cs typeface="Arial" pitchFamily="34" charset="-120"/>
              </a:rPr>
              <a:t>C'est la seule partie matérielle dont nous maîtrisons la chaîne complète — et c'est elle qui rend le reste intelligent.</a:t>
            </a:r>
            <a:endParaRPr lang="en-US" sz="1000" dirty="0"/>
          </a:p>
        </p:txBody>
      </p:sp>
      <p:sp>
        <p:nvSpPr>
          <p:cNvPr id="27" name="Text 25"/>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28" name="Text 26"/>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COMMENT LES PRODUITS FONCTIONNENT ENSEMBLE</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Une installation qui devient intelligente</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Text 3"/>
          <p:cNvSpPr/>
          <p:nvPr/>
        </p:nvSpPr>
        <p:spPr>
          <a:xfrm>
            <a:off x="502920" y="1508760"/>
            <a:ext cx="1842516" cy="219456"/>
          </a:xfrm>
          <a:prstGeom prst="rect">
            <a:avLst/>
          </a:prstGeom>
          <a:noFill/>
          <a:ln/>
        </p:spPr>
        <p:txBody>
          <a:bodyPr wrap="square" rtlCol="0" anchor="ctr"/>
          <a:lstStyle/>
          <a:p>
            <a:pPr indent="0" marL="0">
              <a:buNone/>
            </a:pPr>
            <a:r>
              <a:rPr lang="en-US" sz="1000" dirty="0">
                <a:solidFill>
                  <a:srgbClr val="667974"/>
                </a:solidFill>
                <a:latin typeface="Consolas" pitchFamily="34" charset="0"/>
                <a:ea typeface="Consolas" pitchFamily="34" charset="-122"/>
                <a:cs typeface="Consolas" pitchFamily="34" charset="-120"/>
              </a:rPr>
              <a:t>01</a:t>
            </a:r>
            <a:endParaRPr lang="en-US" sz="1000" dirty="0"/>
          </a:p>
        </p:txBody>
      </p:sp>
      <p:sp>
        <p:nvSpPr>
          <p:cNvPr id="6" name="Text 4"/>
          <p:cNvSpPr/>
          <p:nvPr/>
        </p:nvSpPr>
        <p:spPr>
          <a:xfrm>
            <a:off x="502920" y="1746504"/>
            <a:ext cx="1842516" cy="274320"/>
          </a:xfrm>
          <a:prstGeom prst="rect">
            <a:avLst/>
          </a:prstGeom>
          <a:noFill/>
          <a:ln/>
        </p:spPr>
        <p:txBody>
          <a:bodyPr wrap="square" rtlCol="0" anchor="ctr"/>
          <a:lstStyle/>
          <a:p>
            <a:pPr indent="0" marL="0">
              <a:buNone/>
            </a:pPr>
            <a:r>
              <a:rPr lang="en-US" sz="1400" b="1" dirty="0">
                <a:solidFill>
                  <a:srgbClr val="1E3A35"/>
                </a:solidFill>
                <a:latin typeface="Arial" pitchFamily="34" charset="0"/>
                <a:ea typeface="Arial" pitchFamily="34" charset="-122"/>
                <a:cs typeface="Arial" pitchFamily="34" charset="-120"/>
              </a:rPr>
              <a:t>Mesurer</a:t>
            </a:r>
            <a:endParaRPr lang="en-US" sz="1400" dirty="0"/>
          </a:p>
        </p:txBody>
      </p:sp>
      <p:sp>
        <p:nvSpPr>
          <p:cNvPr id="7" name="Text 5"/>
          <p:cNvSpPr/>
          <p:nvPr/>
        </p:nvSpPr>
        <p:spPr>
          <a:xfrm>
            <a:off x="502920" y="2057400"/>
            <a:ext cx="1842516" cy="640080"/>
          </a:xfrm>
          <a:prstGeom prst="rect">
            <a:avLst/>
          </a:prstGeom>
          <a:noFill/>
          <a:ln/>
        </p:spPr>
        <p:txBody>
          <a:bodyPr wrap="square" rtlCol="0" anchor="ctr"/>
          <a:lstStyle/>
          <a:p>
            <a:pPr indent="0" marL="0">
              <a:lnSpc>
                <a:spcPts val="1300"/>
              </a:lnSpc>
              <a:buNone/>
            </a:pPr>
            <a:r>
              <a:rPr lang="en-US" sz="1000" dirty="0">
                <a:solidFill>
                  <a:srgbClr val="667974"/>
                </a:solidFill>
                <a:latin typeface="Arial" pitchFamily="34" charset="0"/>
                <a:ea typeface="Arial" pitchFamily="34" charset="-122"/>
                <a:cs typeface="Arial" pitchFamily="34" charset="-120"/>
              </a:rPr>
              <a:t>Les capteurs relèvent l'intérieur et l'extérieur en continu.</a:t>
            </a:r>
            <a:endParaRPr lang="en-US" sz="1000" dirty="0"/>
          </a:p>
        </p:txBody>
      </p:sp>
      <p:sp>
        <p:nvSpPr>
          <p:cNvPr id="8" name="Text 6"/>
          <p:cNvSpPr/>
          <p:nvPr/>
        </p:nvSpPr>
        <p:spPr>
          <a:xfrm>
            <a:off x="2601468" y="1508760"/>
            <a:ext cx="1842516" cy="219456"/>
          </a:xfrm>
          <a:prstGeom prst="rect">
            <a:avLst/>
          </a:prstGeom>
          <a:noFill/>
          <a:ln/>
        </p:spPr>
        <p:txBody>
          <a:bodyPr wrap="square" rtlCol="0" anchor="ctr"/>
          <a:lstStyle/>
          <a:p>
            <a:pPr indent="0" marL="0">
              <a:buNone/>
            </a:pPr>
            <a:r>
              <a:rPr lang="en-US" sz="1000" dirty="0">
                <a:solidFill>
                  <a:srgbClr val="667974"/>
                </a:solidFill>
                <a:latin typeface="Consolas" pitchFamily="34" charset="0"/>
                <a:ea typeface="Consolas" pitchFamily="34" charset="-122"/>
                <a:cs typeface="Consolas" pitchFamily="34" charset="-120"/>
              </a:rPr>
              <a:t>02</a:t>
            </a:r>
            <a:endParaRPr lang="en-US" sz="1000" dirty="0"/>
          </a:p>
        </p:txBody>
      </p:sp>
      <p:sp>
        <p:nvSpPr>
          <p:cNvPr id="9" name="Text 7"/>
          <p:cNvSpPr/>
          <p:nvPr/>
        </p:nvSpPr>
        <p:spPr>
          <a:xfrm>
            <a:off x="2601468" y="1746504"/>
            <a:ext cx="1842516" cy="274320"/>
          </a:xfrm>
          <a:prstGeom prst="rect">
            <a:avLst/>
          </a:prstGeom>
          <a:noFill/>
          <a:ln/>
        </p:spPr>
        <p:txBody>
          <a:bodyPr wrap="square" rtlCol="0" anchor="ctr"/>
          <a:lstStyle/>
          <a:p>
            <a:pPr indent="0" marL="0">
              <a:buNone/>
            </a:pPr>
            <a:r>
              <a:rPr lang="en-US" sz="1400" b="1" dirty="0">
                <a:solidFill>
                  <a:srgbClr val="1E3A35"/>
                </a:solidFill>
                <a:latin typeface="Arial" pitchFamily="34" charset="0"/>
                <a:ea typeface="Arial" pitchFamily="34" charset="-122"/>
                <a:cs typeface="Arial" pitchFamily="34" charset="-120"/>
              </a:rPr>
              <a:t>Analyser</a:t>
            </a:r>
            <a:endParaRPr lang="en-US" sz="1400" dirty="0"/>
          </a:p>
        </p:txBody>
      </p:sp>
      <p:sp>
        <p:nvSpPr>
          <p:cNvPr id="10" name="Text 8"/>
          <p:cNvSpPr/>
          <p:nvPr/>
        </p:nvSpPr>
        <p:spPr>
          <a:xfrm>
            <a:off x="2601468" y="2057400"/>
            <a:ext cx="1842516" cy="640080"/>
          </a:xfrm>
          <a:prstGeom prst="rect">
            <a:avLst/>
          </a:prstGeom>
          <a:noFill/>
          <a:ln/>
        </p:spPr>
        <p:txBody>
          <a:bodyPr wrap="square" rtlCol="0" anchor="ctr"/>
          <a:lstStyle/>
          <a:p>
            <a:pPr indent="0" marL="0">
              <a:lnSpc>
                <a:spcPts val="1300"/>
              </a:lnSpc>
              <a:buNone/>
            </a:pPr>
            <a:r>
              <a:rPr lang="en-US" sz="1000" dirty="0">
                <a:solidFill>
                  <a:srgbClr val="667974"/>
                </a:solidFill>
                <a:latin typeface="Arial" pitchFamily="34" charset="0"/>
                <a:ea typeface="Arial" pitchFamily="34" charset="-122"/>
                <a:cs typeface="Arial" pitchFamily="34" charset="-120"/>
              </a:rPr>
              <a:t>Le système compare les deux et repère le bon moment.</a:t>
            </a:r>
            <a:endParaRPr lang="en-US" sz="1000" dirty="0"/>
          </a:p>
        </p:txBody>
      </p:sp>
      <p:sp>
        <p:nvSpPr>
          <p:cNvPr id="11" name="Text 9"/>
          <p:cNvSpPr/>
          <p:nvPr/>
        </p:nvSpPr>
        <p:spPr>
          <a:xfrm>
            <a:off x="4700016" y="1508760"/>
            <a:ext cx="1842516" cy="219456"/>
          </a:xfrm>
          <a:prstGeom prst="rect">
            <a:avLst/>
          </a:prstGeom>
          <a:noFill/>
          <a:ln/>
        </p:spPr>
        <p:txBody>
          <a:bodyPr wrap="square" rtlCol="0" anchor="ctr"/>
          <a:lstStyle/>
          <a:p>
            <a:pPr indent="0" marL="0">
              <a:buNone/>
            </a:pPr>
            <a:r>
              <a:rPr lang="en-US" sz="1000" dirty="0">
                <a:solidFill>
                  <a:srgbClr val="667974"/>
                </a:solidFill>
                <a:latin typeface="Consolas" pitchFamily="34" charset="0"/>
                <a:ea typeface="Consolas" pitchFamily="34" charset="-122"/>
                <a:cs typeface="Consolas" pitchFamily="34" charset="-120"/>
              </a:rPr>
              <a:t>03</a:t>
            </a:r>
            <a:endParaRPr lang="en-US" sz="1000" dirty="0"/>
          </a:p>
        </p:txBody>
      </p:sp>
      <p:sp>
        <p:nvSpPr>
          <p:cNvPr id="12" name="Text 10"/>
          <p:cNvSpPr/>
          <p:nvPr/>
        </p:nvSpPr>
        <p:spPr>
          <a:xfrm>
            <a:off x="4700016" y="1746504"/>
            <a:ext cx="1842516" cy="274320"/>
          </a:xfrm>
          <a:prstGeom prst="rect">
            <a:avLst/>
          </a:prstGeom>
          <a:noFill/>
          <a:ln/>
        </p:spPr>
        <p:txBody>
          <a:bodyPr wrap="square" rtlCol="0" anchor="ctr"/>
          <a:lstStyle/>
          <a:p>
            <a:pPr indent="0" marL="0">
              <a:buNone/>
            </a:pPr>
            <a:r>
              <a:rPr lang="en-US" sz="1400" b="1" dirty="0">
                <a:solidFill>
                  <a:srgbClr val="1E3A35"/>
                </a:solidFill>
                <a:latin typeface="Arial" pitchFamily="34" charset="0"/>
                <a:ea typeface="Arial" pitchFamily="34" charset="-122"/>
                <a:cs typeface="Arial" pitchFamily="34" charset="-120"/>
              </a:rPr>
              <a:t>Agir</a:t>
            </a:r>
            <a:endParaRPr lang="en-US" sz="1400" dirty="0"/>
          </a:p>
        </p:txBody>
      </p:sp>
      <p:sp>
        <p:nvSpPr>
          <p:cNvPr id="13" name="Text 11"/>
          <p:cNvSpPr/>
          <p:nvPr/>
        </p:nvSpPr>
        <p:spPr>
          <a:xfrm>
            <a:off x="4700016" y="2057400"/>
            <a:ext cx="1842516" cy="640080"/>
          </a:xfrm>
          <a:prstGeom prst="rect">
            <a:avLst/>
          </a:prstGeom>
          <a:noFill/>
          <a:ln/>
        </p:spPr>
        <p:txBody>
          <a:bodyPr wrap="square" rtlCol="0" anchor="ctr"/>
          <a:lstStyle/>
          <a:p>
            <a:pPr indent="0" marL="0">
              <a:lnSpc>
                <a:spcPts val="1300"/>
              </a:lnSpc>
              <a:buNone/>
            </a:pPr>
            <a:r>
              <a:rPr lang="en-US" sz="1000" dirty="0">
                <a:solidFill>
                  <a:srgbClr val="667974"/>
                </a:solidFill>
                <a:latin typeface="Arial" pitchFamily="34" charset="0"/>
                <a:ea typeface="Arial" pitchFamily="34" charset="-122"/>
                <a:cs typeface="Arial" pitchFamily="34" charset="-120"/>
              </a:rPr>
              <a:t>Volets et fenêtres motorisés s'ouvrent ou se ferment.</a:t>
            </a:r>
            <a:endParaRPr lang="en-US" sz="1000" dirty="0"/>
          </a:p>
        </p:txBody>
      </p:sp>
      <p:sp>
        <p:nvSpPr>
          <p:cNvPr id="14" name="Text 12"/>
          <p:cNvSpPr/>
          <p:nvPr/>
        </p:nvSpPr>
        <p:spPr>
          <a:xfrm>
            <a:off x="6798564" y="1508760"/>
            <a:ext cx="1842516" cy="219456"/>
          </a:xfrm>
          <a:prstGeom prst="rect">
            <a:avLst/>
          </a:prstGeom>
          <a:noFill/>
          <a:ln/>
        </p:spPr>
        <p:txBody>
          <a:bodyPr wrap="square" rtlCol="0" anchor="ctr"/>
          <a:lstStyle/>
          <a:p>
            <a:pPr indent="0" marL="0">
              <a:buNone/>
            </a:pPr>
            <a:r>
              <a:rPr lang="en-US" sz="1000" dirty="0">
                <a:solidFill>
                  <a:srgbClr val="667974"/>
                </a:solidFill>
                <a:latin typeface="Consolas" pitchFamily="34" charset="0"/>
                <a:ea typeface="Consolas" pitchFamily="34" charset="-122"/>
                <a:cs typeface="Consolas" pitchFamily="34" charset="-120"/>
              </a:rPr>
              <a:t>04</a:t>
            </a:r>
            <a:endParaRPr lang="en-US" sz="1000" dirty="0"/>
          </a:p>
        </p:txBody>
      </p:sp>
      <p:sp>
        <p:nvSpPr>
          <p:cNvPr id="15" name="Text 13"/>
          <p:cNvSpPr/>
          <p:nvPr/>
        </p:nvSpPr>
        <p:spPr>
          <a:xfrm>
            <a:off x="6798564" y="1746504"/>
            <a:ext cx="1842516" cy="274320"/>
          </a:xfrm>
          <a:prstGeom prst="rect">
            <a:avLst/>
          </a:prstGeom>
          <a:noFill/>
          <a:ln/>
        </p:spPr>
        <p:txBody>
          <a:bodyPr wrap="square" rtlCol="0" anchor="ctr"/>
          <a:lstStyle/>
          <a:p>
            <a:pPr indent="0" marL="0">
              <a:buNone/>
            </a:pPr>
            <a:r>
              <a:rPr lang="en-US" sz="1400" b="1" dirty="0">
                <a:solidFill>
                  <a:srgbClr val="1E3A35"/>
                </a:solidFill>
                <a:latin typeface="Arial" pitchFamily="34" charset="0"/>
                <a:ea typeface="Arial" pitchFamily="34" charset="-122"/>
                <a:cs typeface="Arial" pitchFamily="34" charset="-120"/>
              </a:rPr>
              <a:t>Garder la main</a:t>
            </a:r>
            <a:endParaRPr lang="en-US" sz="1400" dirty="0"/>
          </a:p>
        </p:txBody>
      </p:sp>
      <p:sp>
        <p:nvSpPr>
          <p:cNvPr id="16" name="Text 14"/>
          <p:cNvSpPr/>
          <p:nvPr/>
        </p:nvSpPr>
        <p:spPr>
          <a:xfrm>
            <a:off x="6798564" y="2057400"/>
            <a:ext cx="1842516" cy="640080"/>
          </a:xfrm>
          <a:prstGeom prst="rect">
            <a:avLst/>
          </a:prstGeom>
          <a:noFill/>
          <a:ln/>
        </p:spPr>
        <p:txBody>
          <a:bodyPr wrap="square" rtlCol="0" anchor="ctr"/>
          <a:lstStyle/>
          <a:p>
            <a:pPr indent="0" marL="0">
              <a:lnSpc>
                <a:spcPts val="1300"/>
              </a:lnSpc>
              <a:buNone/>
            </a:pPr>
            <a:r>
              <a:rPr lang="en-US" sz="1000" dirty="0">
                <a:solidFill>
                  <a:srgbClr val="667974"/>
                </a:solidFill>
                <a:latin typeface="Arial" pitchFamily="34" charset="0"/>
                <a:ea typeface="Arial" pitchFamily="34" charset="-122"/>
                <a:cs typeface="Arial" pitchFamily="34" charset="-120"/>
              </a:rPr>
              <a:t>Le client reprend le contrôle à tout moment.</a:t>
            </a:r>
            <a:endParaRPr lang="en-US" sz="1000" dirty="0"/>
          </a:p>
        </p:txBody>
      </p:sp>
      <p:sp>
        <p:nvSpPr>
          <p:cNvPr id="17" name="Shape 15"/>
          <p:cNvSpPr/>
          <p:nvPr/>
        </p:nvSpPr>
        <p:spPr>
          <a:xfrm>
            <a:off x="502920" y="2926080"/>
            <a:ext cx="3931920" cy="914400"/>
          </a:xfrm>
          <a:prstGeom prst="rect">
            <a:avLst/>
          </a:prstGeom>
          <a:solidFill>
            <a:srgbClr val="F3E2C6"/>
          </a:solidFill>
          <a:ln w="12700">
            <a:solidFill>
              <a:srgbClr val="E9A13B"/>
            </a:solidFill>
            <a:prstDash val="solid"/>
          </a:ln>
        </p:spPr>
      </p:sp>
      <p:sp>
        <p:nvSpPr>
          <p:cNvPr id="18" name="Shape 16"/>
          <p:cNvSpPr/>
          <p:nvPr/>
        </p:nvSpPr>
        <p:spPr>
          <a:xfrm>
            <a:off x="502920" y="2926080"/>
            <a:ext cx="54864" cy="914400"/>
          </a:xfrm>
          <a:prstGeom prst="rect">
            <a:avLst/>
          </a:prstGeom>
          <a:solidFill>
            <a:srgbClr val="E9A13B"/>
          </a:solidFill>
          <a:ln/>
        </p:spPr>
      </p:sp>
      <p:sp>
        <p:nvSpPr>
          <p:cNvPr id="19" name="Text 17"/>
          <p:cNvSpPr/>
          <p:nvPr/>
        </p:nvSpPr>
        <p:spPr>
          <a:xfrm>
            <a:off x="731520" y="3072384"/>
            <a:ext cx="3474720" cy="256032"/>
          </a:xfrm>
          <a:prstGeom prst="rect">
            <a:avLst/>
          </a:prstGeom>
          <a:noFill/>
          <a:ln/>
        </p:spPr>
        <p:txBody>
          <a:bodyPr wrap="square" rtlCol="0" anchor="ctr"/>
          <a:lstStyle/>
          <a:p>
            <a:pPr indent="0" marL="0">
              <a:buNone/>
            </a:pPr>
            <a:r>
              <a:rPr lang="en-US" sz="1200" b="1" dirty="0">
                <a:solidFill>
                  <a:srgbClr val="1E3A35"/>
                </a:solidFill>
                <a:latin typeface="Arial" pitchFamily="34" charset="0"/>
                <a:ea typeface="Arial" pitchFamily="34" charset="-122"/>
                <a:cs typeface="Arial" pitchFamily="34" charset="-120"/>
              </a:rPr>
              <a:t>Extérieur plus chaud que l'intérieur</a:t>
            </a:r>
            <a:endParaRPr lang="en-US" sz="1200" dirty="0"/>
          </a:p>
        </p:txBody>
      </p:sp>
      <p:sp>
        <p:nvSpPr>
          <p:cNvPr id="20" name="Text 18"/>
          <p:cNvSpPr/>
          <p:nvPr/>
        </p:nvSpPr>
        <p:spPr>
          <a:xfrm>
            <a:off x="731520" y="3383280"/>
            <a:ext cx="3474720" cy="320040"/>
          </a:xfrm>
          <a:prstGeom prst="rect">
            <a:avLst/>
          </a:prstGeom>
          <a:noFill/>
          <a:ln/>
        </p:spPr>
        <p:txBody>
          <a:bodyPr wrap="square" rtlCol="0" anchor="ctr"/>
          <a:lstStyle/>
          <a:p>
            <a:pPr indent="0" marL="0">
              <a:buNone/>
            </a:pPr>
            <a:r>
              <a:rPr lang="en-US" sz="1100" dirty="0">
                <a:solidFill>
                  <a:srgbClr val="667974"/>
                </a:solidFill>
                <a:latin typeface="Arial" pitchFamily="34" charset="0"/>
                <a:ea typeface="Arial" pitchFamily="34" charset="-122"/>
                <a:cs typeface="Arial" pitchFamily="34" charset="-120"/>
              </a:rPr>
              <a:t>On ferme, avant que le soleil ne tape.</a:t>
            </a:r>
            <a:endParaRPr lang="en-US" sz="1100" dirty="0"/>
          </a:p>
        </p:txBody>
      </p:sp>
      <p:sp>
        <p:nvSpPr>
          <p:cNvPr id="21" name="Shape 19"/>
          <p:cNvSpPr/>
          <p:nvPr/>
        </p:nvSpPr>
        <p:spPr>
          <a:xfrm>
            <a:off x="4709160" y="2926080"/>
            <a:ext cx="3931920" cy="914400"/>
          </a:xfrm>
          <a:prstGeom prst="rect">
            <a:avLst/>
          </a:prstGeom>
          <a:solidFill>
            <a:srgbClr val="D9EFEA"/>
          </a:solidFill>
          <a:ln w="12700">
            <a:solidFill>
              <a:srgbClr val="5FC2B4"/>
            </a:solidFill>
            <a:prstDash val="solid"/>
          </a:ln>
        </p:spPr>
      </p:sp>
      <p:sp>
        <p:nvSpPr>
          <p:cNvPr id="22" name="Shape 20"/>
          <p:cNvSpPr/>
          <p:nvPr/>
        </p:nvSpPr>
        <p:spPr>
          <a:xfrm>
            <a:off x="4709160" y="2926080"/>
            <a:ext cx="54864" cy="914400"/>
          </a:xfrm>
          <a:prstGeom prst="rect">
            <a:avLst/>
          </a:prstGeom>
          <a:solidFill>
            <a:srgbClr val="5FC2B4"/>
          </a:solidFill>
          <a:ln/>
        </p:spPr>
      </p:sp>
      <p:sp>
        <p:nvSpPr>
          <p:cNvPr id="23" name="Text 21"/>
          <p:cNvSpPr/>
          <p:nvPr/>
        </p:nvSpPr>
        <p:spPr>
          <a:xfrm>
            <a:off x="4937760" y="3072384"/>
            <a:ext cx="3474720" cy="256032"/>
          </a:xfrm>
          <a:prstGeom prst="rect">
            <a:avLst/>
          </a:prstGeom>
          <a:noFill/>
          <a:ln/>
        </p:spPr>
        <p:txBody>
          <a:bodyPr wrap="square" rtlCol="0" anchor="ctr"/>
          <a:lstStyle/>
          <a:p>
            <a:pPr indent="0" marL="0">
              <a:buNone/>
            </a:pPr>
            <a:r>
              <a:rPr lang="en-US" sz="1200" b="1" dirty="0">
                <a:solidFill>
                  <a:srgbClr val="1E3A35"/>
                </a:solidFill>
                <a:latin typeface="Arial" pitchFamily="34" charset="0"/>
                <a:ea typeface="Arial" pitchFamily="34" charset="-122"/>
                <a:cs typeface="Arial" pitchFamily="34" charset="-120"/>
              </a:rPr>
              <a:t>Extérieur plus frais, la nuit</a:t>
            </a:r>
            <a:endParaRPr lang="en-US" sz="1200" dirty="0"/>
          </a:p>
        </p:txBody>
      </p:sp>
      <p:sp>
        <p:nvSpPr>
          <p:cNvPr id="24" name="Text 22"/>
          <p:cNvSpPr/>
          <p:nvPr/>
        </p:nvSpPr>
        <p:spPr>
          <a:xfrm>
            <a:off x="4937760" y="3383280"/>
            <a:ext cx="3474720" cy="320040"/>
          </a:xfrm>
          <a:prstGeom prst="rect">
            <a:avLst/>
          </a:prstGeom>
          <a:noFill/>
          <a:ln/>
        </p:spPr>
        <p:txBody>
          <a:bodyPr wrap="square" rtlCol="0" anchor="ctr"/>
          <a:lstStyle/>
          <a:p>
            <a:pPr indent="0" marL="0">
              <a:buNone/>
            </a:pPr>
            <a:r>
              <a:rPr lang="en-US" sz="1100" dirty="0">
                <a:solidFill>
                  <a:srgbClr val="667974"/>
                </a:solidFill>
                <a:latin typeface="Arial" pitchFamily="34" charset="0"/>
                <a:ea typeface="Arial" pitchFamily="34" charset="-122"/>
                <a:cs typeface="Arial" pitchFamily="34" charset="-120"/>
              </a:rPr>
              <a:t>On ouvre, pour faire entrer la fraîcheur.</a:t>
            </a:r>
            <a:endParaRPr lang="en-US" sz="1100" dirty="0"/>
          </a:p>
        </p:txBody>
      </p:sp>
      <p:sp>
        <p:nvSpPr>
          <p:cNvPr id="25" name="Text 23"/>
          <p:cNvSpPr/>
          <p:nvPr/>
        </p:nvSpPr>
        <p:spPr>
          <a:xfrm>
            <a:off x="502920" y="3950208"/>
            <a:ext cx="8138160" cy="274320"/>
          </a:xfrm>
          <a:prstGeom prst="rect">
            <a:avLst/>
          </a:prstGeom>
          <a:noFill/>
          <a:ln/>
        </p:spPr>
        <p:txBody>
          <a:bodyPr wrap="square" rtlCol="0" anchor="ctr"/>
          <a:lstStyle/>
          <a:p>
            <a:pPr indent="0" marL="0">
              <a:buNone/>
            </a:pPr>
            <a:r>
              <a:rPr lang="en-US" sz="950" i="1" dirty="0">
                <a:solidFill>
                  <a:srgbClr val="667974"/>
                </a:solidFill>
                <a:latin typeface="Arial" pitchFamily="34" charset="0"/>
                <a:ea typeface="Arial" pitchFamily="34" charset="-122"/>
                <a:cs typeface="Arial" pitchFamily="34" charset="-120"/>
              </a:rPr>
              <a:t>Scénario de démonstration — aucun gain de température n'est garanti : le résultat dépend du logement, de son orientation et de son inertie.</a:t>
            </a:r>
            <a:endParaRPr lang="en-US" sz="950" dirty="0"/>
          </a:p>
        </p:txBody>
      </p:sp>
      <p:sp>
        <p:nvSpPr>
          <p:cNvPr id="26" name="Text 24"/>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27" name="Text 25"/>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INCLUSE À VIE AVEC L'ACHAT</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L'application : le centre de contrôle</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Shape 3"/>
          <p:cNvSpPr/>
          <p:nvPr/>
        </p:nvSpPr>
        <p:spPr>
          <a:xfrm>
            <a:off x="448056" y="1453896"/>
            <a:ext cx="2350008" cy="2809553"/>
          </a:xfrm>
          <a:prstGeom prst="rect">
            <a:avLst/>
          </a:prstGeom>
          <a:solidFill>
            <a:srgbClr val="1E3A35"/>
          </a:solidFill>
          <a:ln/>
        </p:spPr>
      </p:sp>
      <p:pic>
        <p:nvPicPr>
          <p:cNvPr id="6" name="Image 0" descr="C:\Users\AdminEtu\Desktop\projet_claude_code\projet-volets\presentation\assets\app-accueil-crop.png">    </p:cNvPr>
          <p:cNvPicPr>
            <a:picLocks noChangeAspect="1"/>
          </p:cNvPicPr>
          <p:nvPr/>
        </p:nvPicPr>
        <p:blipFill>
          <a:blip r:embed="rId1"/>
          <a:stretch>
            <a:fillRect/>
          </a:stretch>
        </p:blipFill>
        <p:spPr>
          <a:xfrm>
            <a:off x="502920" y="1508760"/>
            <a:ext cx="2240280" cy="2699825"/>
          </a:xfrm>
          <a:prstGeom prst="rect">
            <a:avLst/>
          </a:prstGeom>
        </p:spPr>
      </p:pic>
      <p:sp>
        <p:nvSpPr>
          <p:cNvPr id="7" name="Text 4"/>
          <p:cNvSpPr/>
          <p:nvPr/>
        </p:nvSpPr>
        <p:spPr>
          <a:xfrm>
            <a:off x="448056" y="4336601"/>
            <a:ext cx="2788920" cy="201168"/>
          </a:xfrm>
          <a:prstGeom prst="rect">
            <a:avLst/>
          </a:prstGeom>
          <a:noFill/>
          <a:ln/>
        </p:spPr>
        <p:txBody>
          <a:bodyPr wrap="square" rtlCol="0" anchor="ctr"/>
          <a:lstStyle/>
          <a:p>
            <a:pPr indent="0" marL="0">
              <a:buNone/>
            </a:pPr>
            <a:r>
              <a:rPr lang="en-US" sz="850" dirty="0">
                <a:solidFill>
                  <a:srgbClr val="667974"/>
                </a:solidFill>
                <a:latin typeface="Arial" pitchFamily="34" charset="0"/>
                <a:ea typeface="Arial" pitchFamily="34" charset="-122"/>
                <a:cs typeface="Arial" pitchFamily="34" charset="-120"/>
              </a:rPr>
              <a:t>Écran d'accueil de la démonstration (données simulées)</a:t>
            </a:r>
            <a:endParaRPr lang="en-US" sz="850" dirty="0"/>
          </a:p>
        </p:txBody>
      </p:sp>
      <p:sp>
        <p:nvSpPr>
          <p:cNvPr id="8" name="Shape 5"/>
          <p:cNvSpPr/>
          <p:nvPr/>
        </p:nvSpPr>
        <p:spPr>
          <a:xfrm>
            <a:off x="3154680" y="1508760"/>
            <a:ext cx="45720" cy="493776"/>
          </a:xfrm>
          <a:prstGeom prst="rect">
            <a:avLst/>
          </a:prstGeom>
          <a:solidFill>
            <a:srgbClr val="1E3A35"/>
          </a:solidFill>
          <a:ln/>
        </p:spPr>
      </p:sp>
      <p:sp>
        <p:nvSpPr>
          <p:cNvPr id="9" name="Text 6"/>
          <p:cNvSpPr/>
          <p:nvPr/>
        </p:nvSpPr>
        <p:spPr>
          <a:xfrm>
            <a:off x="3337560" y="1508760"/>
            <a:ext cx="5303520" cy="237744"/>
          </a:xfrm>
          <a:prstGeom prst="rect">
            <a:avLst/>
          </a:prstGeom>
          <a:noFill/>
          <a:ln/>
        </p:spPr>
        <p:txBody>
          <a:bodyPr wrap="square" rtlCol="0" anchor="ctr"/>
          <a:lstStyle/>
          <a:p>
            <a:pPr indent="0" marL="0">
              <a:buNone/>
            </a:pPr>
            <a:r>
              <a:rPr lang="en-US" sz="1300" b="1" dirty="0">
                <a:solidFill>
                  <a:srgbClr val="1E3A35"/>
                </a:solidFill>
                <a:latin typeface="Arial" pitchFamily="34" charset="0"/>
                <a:ea typeface="Arial" pitchFamily="34" charset="-122"/>
                <a:cs typeface="Arial" pitchFamily="34" charset="-120"/>
              </a:rPr>
              <a:t>Piloter</a:t>
            </a:r>
            <a:endParaRPr lang="en-US" sz="1300" dirty="0"/>
          </a:p>
        </p:txBody>
      </p:sp>
      <p:sp>
        <p:nvSpPr>
          <p:cNvPr id="10" name="Text 7"/>
          <p:cNvSpPr/>
          <p:nvPr/>
        </p:nvSpPr>
        <p:spPr>
          <a:xfrm>
            <a:off x="3337560" y="1755648"/>
            <a:ext cx="5303520" cy="310896"/>
          </a:xfrm>
          <a:prstGeom prst="rect">
            <a:avLst/>
          </a:prstGeom>
          <a:noFill/>
          <a:ln/>
        </p:spPr>
        <p:txBody>
          <a:bodyPr wrap="square" rtlCol="0" anchor="ctr"/>
          <a:lstStyle/>
          <a:p>
            <a:pPr indent="0" marL="0">
              <a:lnSpc>
                <a:spcPts val="1250"/>
              </a:lnSpc>
              <a:buNone/>
            </a:pPr>
            <a:r>
              <a:rPr lang="en-US" sz="1000" dirty="0">
                <a:solidFill>
                  <a:srgbClr val="667974"/>
                </a:solidFill>
                <a:latin typeface="Arial" pitchFamily="34" charset="0"/>
                <a:ea typeface="Arial" pitchFamily="34" charset="-122"/>
                <a:cs typeface="Arial" pitchFamily="34" charset="-120"/>
              </a:rPr>
              <a:t>Ouvrir, fermer, verrouiller, régler chaque ouvrant.</a:t>
            </a:r>
            <a:endParaRPr lang="en-US" sz="1000" dirty="0"/>
          </a:p>
        </p:txBody>
      </p:sp>
      <p:sp>
        <p:nvSpPr>
          <p:cNvPr id="11" name="Shape 8"/>
          <p:cNvSpPr/>
          <p:nvPr/>
        </p:nvSpPr>
        <p:spPr>
          <a:xfrm>
            <a:off x="3154680" y="2093976"/>
            <a:ext cx="45720" cy="493776"/>
          </a:xfrm>
          <a:prstGeom prst="rect">
            <a:avLst/>
          </a:prstGeom>
          <a:solidFill>
            <a:srgbClr val="1E3A35"/>
          </a:solidFill>
          <a:ln/>
        </p:spPr>
      </p:sp>
      <p:sp>
        <p:nvSpPr>
          <p:cNvPr id="12" name="Text 9"/>
          <p:cNvSpPr/>
          <p:nvPr/>
        </p:nvSpPr>
        <p:spPr>
          <a:xfrm>
            <a:off x="3337560" y="2093976"/>
            <a:ext cx="5303520" cy="237744"/>
          </a:xfrm>
          <a:prstGeom prst="rect">
            <a:avLst/>
          </a:prstGeom>
          <a:noFill/>
          <a:ln/>
        </p:spPr>
        <p:txBody>
          <a:bodyPr wrap="square" rtlCol="0" anchor="ctr"/>
          <a:lstStyle/>
          <a:p>
            <a:pPr indent="0" marL="0">
              <a:buNone/>
            </a:pPr>
            <a:r>
              <a:rPr lang="en-US" sz="1300" b="1" dirty="0">
                <a:solidFill>
                  <a:srgbClr val="1E3A35"/>
                </a:solidFill>
                <a:latin typeface="Arial" pitchFamily="34" charset="0"/>
                <a:ea typeface="Arial" pitchFamily="34" charset="-122"/>
                <a:cs typeface="Arial" pitchFamily="34" charset="-120"/>
              </a:rPr>
              <a:t>Surveiller</a:t>
            </a:r>
            <a:endParaRPr lang="en-US" sz="1300" dirty="0"/>
          </a:p>
        </p:txBody>
      </p:sp>
      <p:sp>
        <p:nvSpPr>
          <p:cNvPr id="13" name="Text 10"/>
          <p:cNvSpPr/>
          <p:nvPr/>
        </p:nvSpPr>
        <p:spPr>
          <a:xfrm>
            <a:off x="3337560" y="2340864"/>
            <a:ext cx="5303520" cy="310896"/>
          </a:xfrm>
          <a:prstGeom prst="rect">
            <a:avLst/>
          </a:prstGeom>
          <a:noFill/>
          <a:ln/>
        </p:spPr>
        <p:txBody>
          <a:bodyPr wrap="square" rtlCol="0" anchor="ctr"/>
          <a:lstStyle/>
          <a:p>
            <a:pPr indent="0" marL="0">
              <a:lnSpc>
                <a:spcPts val="1250"/>
              </a:lnSpc>
              <a:buNone/>
            </a:pPr>
            <a:r>
              <a:rPr lang="en-US" sz="1000" dirty="0">
                <a:solidFill>
                  <a:srgbClr val="667974"/>
                </a:solidFill>
                <a:latin typeface="Arial" pitchFamily="34" charset="0"/>
                <a:ea typeface="Arial" pitchFamily="34" charset="-122"/>
                <a:cs typeface="Arial" pitchFamily="34" charset="-120"/>
              </a:rPr>
              <a:t>État de l'installation, capteurs, historique, notifications.</a:t>
            </a:r>
            <a:endParaRPr lang="en-US" sz="1000" dirty="0"/>
          </a:p>
        </p:txBody>
      </p:sp>
      <p:sp>
        <p:nvSpPr>
          <p:cNvPr id="14" name="Shape 11"/>
          <p:cNvSpPr/>
          <p:nvPr/>
        </p:nvSpPr>
        <p:spPr>
          <a:xfrm>
            <a:off x="3154680" y="2679192"/>
            <a:ext cx="45720" cy="493776"/>
          </a:xfrm>
          <a:prstGeom prst="rect">
            <a:avLst/>
          </a:prstGeom>
          <a:solidFill>
            <a:srgbClr val="1E3A35"/>
          </a:solidFill>
          <a:ln/>
        </p:spPr>
      </p:sp>
      <p:sp>
        <p:nvSpPr>
          <p:cNvPr id="15" name="Text 12"/>
          <p:cNvSpPr/>
          <p:nvPr/>
        </p:nvSpPr>
        <p:spPr>
          <a:xfrm>
            <a:off x="3337560" y="2679192"/>
            <a:ext cx="5303520" cy="237744"/>
          </a:xfrm>
          <a:prstGeom prst="rect">
            <a:avLst/>
          </a:prstGeom>
          <a:noFill/>
          <a:ln/>
        </p:spPr>
        <p:txBody>
          <a:bodyPr wrap="square" rtlCol="0" anchor="ctr"/>
          <a:lstStyle/>
          <a:p>
            <a:pPr indent="0" marL="0">
              <a:buNone/>
            </a:pPr>
            <a:r>
              <a:rPr lang="en-US" sz="1300" b="1" dirty="0">
                <a:solidFill>
                  <a:srgbClr val="1E3A35"/>
                </a:solidFill>
                <a:latin typeface="Arial" pitchFamily="34" charset="0"/>
                <a:ea typeface="Arial" pitchFamily="34" charset="-122"/>
                <a:cs typeface="Arial" pitchFamily="34" charset="-120"/>
              </a:rPr>
              <a:t>Automatiser</a:t>
            </a:r>
            <a:endParaRPr lang="en-US" sz="1300" dirty="0"/>
          </a:p>
        </p:txBody>
      </p:sp>
      <p:sp>
        <p:nvSpPr>
          <p:cNvPr id="16" name="Text 13"/>
          <p:cNvSpPr/>
          <p:nvPr/>
        </p:nvSpPr>
        <p:spPr>
          <a:xfrm>
            <a:off x="3337560" y="2926080"/>
            <a:ext cx="5303520" cy="310896"/>
          </a:xfrm>
          <a:prstGeom prst="rect">
            <a:avLst/>
          </a:prstGeom>
          <a:noFill/>
          <a:ln/>
        </p:spPr>
        <p:txBody>
          <a:bodyPr wrap="square" rtlCol="0" anchor="ctr"/>
          <a:lstStyle/>
          <a:p>
            <a:pPr indent="0" marL="0">
              <a:lnSpc>
                <a:spcPts val="1250"/>
              </a:lnSpc>
              <a:buNone/>
            </a:pPr>
            <a:r>
              <a:rPr lang="en-US" sz="1000" dirty="0">
                <a:solidFill>
                  <a:srgbClr val="667974"/>
                </a:solidFill>
                <a:latin typeface="Arial" pitchFamily="34" charset="0"/>
                <a:ea typeface="Arial" pitchFamily="34" charset="-122"/>
                <a:cs typeface="Arial" pitchFamily="34" charset="-120"/>
              </a:rPr>
              <a:t>Mode auto, programmes et scénarios (Canicule, Absence, Nuit fraîche…).</a:t>
            </a:r>
            <a:endParaRPr lang="en-US" sz="1000" dirty="0"/>
          </a:p>
        </p:txBody>
      </p:sp>
      <p:sp>
        <p:nvSpPr>
          <p:cNvPr id="17" name="Shape 14"/>
          <p:cNvSpPr/>
          <p:nvPr/>
        </p:nvSpPr>
        <p:spPr>
          <a:xfrm>
            <a:off x="3154680" y="3264408"/>
            <a:ext cx="45720" cy="493776"/>
          </a:xfrm>
          <a:prstGeom prst="rect">
            <a:avLst/>
          </a:prstGeom>
          <a:solidFill>
            <a:srgbClr val="1E3A35"/>
          </a:solidFill>
          <a:ln/>
        </p:spPr>
      </p:sp>
      <p:sp>
        <p:nvSpPr>
          <p:cNvPr id="18" name="Text 15"/>
          <p:cNvSpPr/>
          <p:nvPr/>
        </p:nvSpPr>
        <p:spPr>
          <a:xfrm>
            <a:off x="3337560" y="3264408"/>
            <a:ext cx="5303520" cy="237744"/>
          </a:xfrm>
          <a:prstGeom prst="rect">
            <a:avLst/>
          </a:prstGeom>
          <a:noFill/>
          <a:ln/>
        </p:spPr>
        <p:txBody>
          <a:bodyPr wrap="square" rtlCol="0" anchor="ctr"/>
          <a:lstStyle/>
          <a:p>
            <a:pPr indent="0" marL="0">
              <a:buNone/>
            </a:pPr>
            <a:r>
              <a:rPr lang="en-US" sz="1300" b="1" dirty="0">
                <a:solidFill>
                  <a:srgbClr val="1E3A35"/>
                </a:solidFill>
                <a:latin typeface="Arial" pitchFamily="34" charset="0"/>
                <a:ea typeface="Arial" pitchFamily="34" charset="-122"/>
                <a:cs typeface="Arial" pitchFamily="34" charset="-120"/>
              </a:rPr>
              <a:t>Être assisté</a:t>
            </a:r>
            <a:endParaRPr lang="en-US" sz="1300" dirty="0"/>
          </a:p>
        </p:txBody>
      </p:sp>
      <p:sp>
        <p:nvSpPr>
          <p:cNvPr id="19" name="Text 16"/>
          <p:cNvSpPr/>
          <p:nvPr/>
        </p:nvSpPr>
        <p:spPr>
          <a:xfrm>
            <a:off x="3337560" y="3511296"/>
            <a:ext cx="5303520" cy="310896"/>
          </a:xfrm>
          <a:prstGeom prst="rect">
            <a:avLst/>
          </a:prstGeom>
          <a:noFill/>
          <a:ln/>
        </p:spPr>
        <p:txBody>
          <a:bodyPr wrap="square" rtlCol="0" anchor="ctr"/>
          <a:lstStyle/>
          <a:p>
            <a:pPr indent="0" marL="0">
              <a:lnSpc>
                <a:spcPts val="1250"/>
              </a:lnSpc>
              <a:buNone/>
            </a:pPr>
            <a:r>
              <a:rPr lang="en-US" sz="1000" dirty="0">
                <a:solidFill>
                  <a:srgbClr val="667974"/>
                </a:solidFill>
                <a:latin typeface="Arial" pitchFamily="34" charset="0"/>
                <a:ea typeface="Arial" pitchFamily="34" charset="-122"/>
                <a:cs typeface="Arial" pitchFamily="34" charset="-120"/>
              </a:rPr>
              <a:t>Réglages, appairage guidé, suivi et assistance.</a:t>
            </a:r>
            <a:endParaRPr lang="en-US" sz="1000" dirty="0"/>
          </a:p>
        </p:txBody>
      </p:sp>
      <p:sp>
        <p:nvSpPr>
          <p:cNvPr id="20" name="Text 17"/>
          <p:cNvSpPr/>
          <p:nvPr/>
        </p:nvSpPr>
        <p:spPr>
          <a:xfrm>
            <a:off x="3154680" y="3849624"/>
            <a:ext cx="5486400" cy="219456"/>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(4,99 €/mois) reste une option facultative, jamais nécessaire aux fonctions principales.</a:t>
            </a:r>
            <a:endParaRPr lang="en-US" sz="900" dirty="0"/>
          </a:p>
        </p:txBody>
      </p:sp>
      <p:sp>
        <p:nvSpPr>
          <p:cNvPr id="21" name="Shape 18"/>
          <p:cNvSpPr/>
          <p:nvPr/>
        </p:nvSpPr>
        <p:spPr>
          <a:xfrm>
            <a:off x="3154680" y="4142232"/>
            <a:ext cx="5486400" cy="402336"/>
          </a:xfrm>
          <a:prstGeom prst="rect">
            <a:avLst/>
          </a:prstGeom>
          <a:solidFill>
            <a:srgbClr val="1E3A35"/>
          </a:solidFill>
          <a:ln/>
        </p:spPr>
      </p:sp>
      <p:sp>
        <p:nvSpPr>
          <p:cNvPr id="22" name="Text 19"/>
          <p:cNvSpPr/>
          <p:nvPr/>
        </p:nvSpPr>
        <p:spPr>
          <a:xfrm>
            <a:off x="3291840" y="4142232"/>
            <a:ext cx="5212080" cy="402336"/>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Accès inclus à vie avec l'achat — sans abonnement</a:t>
            </a:r>
            <a:endParaRPr lang="en-US" sz="1150" dirty="0"/>
          </a:p>
        </p:txBody>
      </p:sp>
      <p:sp>
        <p:nvSpPr>
          <p:cNvPr id="23" name="Text 20"/>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24" name="Text 21"/>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CE QU'OMBRAIR FAIT, AU-DELÀ DU MATÉRIEL</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Nos services : avant, pendant, après</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Shape 3"/>
          <p:cNvSpPr/>
          <p:nvPr/>
        </p:nvSpPr>
        <p:spPr>
          <a:xfrm>
            <a:off x="502920" y="1508760"/>
            <a:ext cx="2499360" cy="2148840"/>
          </a:xfrm>
          <a:prstGeom prst="rect">
            <a:avLst/>
          </a:prstGeom>
          <a:solidFill>
            <a:srgbClr val="E4E6DF"/>
          </a:solidFill>
          <a:ln w="9525">
            <a:solidFill>
              <a:srgbClr val="C8CEC8"/>
            </a:solidFill>
            <a:prstDash val="solid"/>
          </a:ln>
        </p:spPr>
      </p:sp>
      <p:sp>
        <p:nvSpPr>
          <p:cNvPr id="6" name="Text 4"/>
          <p:cNvSpPr/>
          <p:nvPr/>
        </p:nvSpPr>
        <p:spPr>
          <a:xfrm>
            <a:off x="704088" y="1673352"/>
            <a:ext cx="2097024" cy="237744"/>
          </a:xfrm>
          <a:prstGeom prst="rect">
            <a:avLst/>
          </a:prstGeom>
          <a:noFill/>
          <a:ln/>
        </p:spPr>
        <p:txBody>
          <a:bodyPr wrap="square" rtlCol="0" anchor="ctr"/>
          <a:lstStyle/>
          <a:p>
            <a:pPr indent="0" marL="0">
              <a:buNone/>
            </a:pPr>
            <a:r>
              <a:rPr lang="en-US" sz="1000" spc="150" kern="0" dirty="0">
                <a:solidFill>
                  <a:srgbClr val="667974"/>
                </a:solidFill>
                <a:latin typeface="Arial" pitchFamily="34" charset="0"/>
                <a:ea typeface="Arial" pitchFamily="34" charset="-122"/>
                <a:cs typeface="Arial" pitchFamily="34" charset="-120"/>
              </a:rPr>
              <a:t>AVANT</a:t>
            </a:r>
            <a:endParaRPr lang="en-US" sz="1000" dirty="0"/>
          </a:p>
        </p:txBody>
      </p:sp>
      <p:sp>
        <p:nvSpPr>
          <p:cNvPr id="7" name="Text 5"/>
          <p:cNvSpPr/>
          <p:nvPr/>
        </p:nvSpPr>
        <p:spPr>
          <a:xfrm>
            <a:off x="704088" y="2011680"/>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Conseil</a:t>
            </a:r>
            <a:endParaRPr lang="en-US" sz="1150" dirty="0"/>
          </a:p>
        </p:txBody>
      </p:sp>
      <p:sp>
        <p:nvSpPr>
          <p:cNvPr id="8" name="Shape 6"/>
          <p:cNvSpPr/>
          <p:nvPr/>
        </p:nvSpPr>
        <p:spPr>
          <a:xfrm>
            <a:off x="704088" y="2350008"/>
            <a:ext cx="2097024" cy="7315"/>
          </a:xfrm>
          <a:prstGeom prst="rect">
            <a:avLst/>
          </a:prstGeom>
          <a:solidFill>
            <a:srgbClr val="C8CEC8"/>
          </a:solidFill>
          <a:ln/>
        </p:spPr>
      </p:sp>
      <p:sp>
        <p:nvSpPr>
          <p:cNvPr id="9" name="Text 7"/>
          <p:cNvSpPr/>
          <p:nvPr/>
        </p:nvSpPr>
        <p:spPr>
          <a:xfrm>
            <a:off x="704088" y="2395728"/>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Choix de la solution</a:t>
            </a:r>
            <a:endParaRPr lang="en-US" sz="1150" dirty="0"/>
          </a:p>
        </p:txBody>
      </p:sp>
      <p:sp>
        <p:nvSpPr>
          <p:cNvPr id="10" name="Shape 8"/>
          <p:cNvSpPr/>
          <p:nvPr/>
        </p:nvSpPr>
        <p:spPr>
          <a:xfrm>
            <a:off x="704088" y="2734056"/>
            <a:ext cx="2097024" cy="7315"/>
          </a:xfrm>
          <a:prstGeom prst="rect">
            <a:avLst/>
          </a:prstGeom>
          <a:solidFill>
            <a:srgbClr val="C8CEC8"/>
          </a:solidFill>
          <a:ln/>
        </p:spPr>
      </p:sp>
      <p:sp>
        <p:nvSpPr>
          <p:cNvPr id="11" name="Text 9"/>
          <p:cNvSpPr/>
          <p:nvPr/>
        </p:nvSpPr>
        <p:spPr>
          <a:xfrm>
            <a:off x="704088" y="2779776"/>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Vérification de compatibilité</a:t>
            </a:r>
            <a:endParaRPr lang="en-US" sz="1150" dirty="0"/>
          </a:p>
        </p:txBody>
      </p:sp>
      <p:sp>
        <p:nvSpPr>
          <p:cNvPr id="12" name="Shape 10"/>
          <p:cNvSpPr/>
          <p:nvPr/>
        </p:nvSpPr>
        <p:spPr>
          <a:xfrm>
            <a:off x="3322320" y="1508760"/>
            <a:ext cx="2499360" cy="2148840"/>
          </a:xfrm>
          <a:prstGeom prst="rect">
            <a:avLst/>
          </a:prstGeom>
          <a:solidFill>
            <a:srgbClr val="E4E6DF"/>
          </a:solidFill>
          <a:ln w="9525">
            <a:solidFill>
              <a:srgbClr val="C8CEC8"/>
            </a:solidFill>
            <a:prstDash val="solid"/>
          </a:ln>
        </p:spPr>
      </p:sp>
      <p:sp>
        <p:nvSpPr>
          <p:cNvPr id="13" name="Text 11"/>
          <p:cNvSpPr/>
          <p:nvPr/>
        </p:nvSpPr>
        <p:spPr>
          <a:xfrm>
            <a:off x="3523488" y="1673352"/>
            <a:ext cx="2097024" cy="237744"/>
          </a:xfrm>
          <a:prstGeom prst="rect">
            <a:avLst/>
          </a:prstGeom>
          <a:noFill/>
          <a:ln/>
        </p:spPr>
        <p:txBody>
          <a:bodyPr wrap="square" rtlCol="0" anchor="ctr"/>
          <a:lstStyle/>
          <a:p>
            <a:pPr indent="0" marL="0">
              <a:buNone/>
            </a:pPr>
            <a:r>
              <a:rPr lang="en-US" sz="1000" spc="150" kern="0" dirty="0">
                <a:solidFill>
                  <a:srgbClr val="667974"/>
                </a:solidFill>
                <a:latin typeface="Arial" pitchFamily="34" charset="0"/>
                <a:ea typeface="Arial" pitchFamily="34" charset="-122"/>
                <a:cs typeface="Arial" pitchFamily="34" charset="-120"/>
              </a:rPr>
              <a:t>INSTALLATION</a:t>
            </a:r>
            <a:endParaRPr lang="en-US" sz="1000" dirty="0"/>
          </a:p>
        </p:txBody>
      </p:sp>
      <p:sp>
        <p:nvSpPr>
          <p:cNvPr id="14" name="Text 12"/>
          <p:cNvSpPr/>
          <p:nvPr/>
        </p:nvSpPr>
        <p:spPr>
          <a:xfrm>
            <a:off x="3523488" y="2011680"/>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Fourniture des équipements</a:t>
            </a:r>
            <a:endParaRPr lang="en-US" sz="1150" dirty="0"/>
          </a:p>
        </p:txBody>
      </p:sp>
      <p:sp>
        <p:nvSpPr>
          <p:cNvPr id="15" name="Shape 13"/>
          <p:cNvSpPr/>
          <p:nvPr/>
        </p:nvSpPr>
        <p:spPr>
          <a:xfrm>
            <a:off x="3523488" y="2350008"/>
            <a:ext cx="2097024" cy="7315"/>
          </a:xfrm>
          <a:prstGeom prst="rect">
            <a:avLst/>
          </a:prstGeom>
          <a:solidFill>
            <a:srgbClr val="C8CEC8"/>
          </a:solidFill>
          <a:ln/>
        </p:spPr>
      </p:sp>
      <p:sp>
        <p:nvSpPr>
          <p:cNvPr id="16" name="Text 14"/>
          <p:cNvSpPr/>
          <p:nvPr/>
        </p:nvSpPr>
        <p:spPr>
          <a:xfrm>
            <a:off x="3523488" y="2395728"/>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Pose</a:t>
            </a:r>
            <a:endParaRPr lang="en-US" sz="1150" dirty="0"/>
          </a:p>
        </p:txBody>
      </p:sp>
      <p:sp>
        <p:nvSpPr>
          <p:cNvPr id="17" name="Shape 15"/>
          <p:cNvSpPr/>
          <p:nvPr/>
        </p:nvSpPr>
        <p:spPr>
          <a:xfrm>
            <a:off x="3523488" y="2734056"/>
            <a:ext cx="2097024" cy="7315"/>
          </a:xfrm>
          <a:prstGeom prst="rect">
            <a:avLst/>
          </a:prstGeom>
          <a:solidFill>
            <a:srgbClr val="C8CEC8"/>
          </a:solidFill>
          <a:ln/>
        </p:spPr>
      </p:sp>
      <p:sp>
        <p:nvSpPr>
          <p:cNvPr id="18" name="Text 16"/>
          <p:cNvSpPr/>
          <p:nvPr/>
        </p:nvSpPr>
        <p:spPr>
          <a:xfrm>
            <a:off x="3523488" y="2779776"/>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Configuration</a:t>
            </a:r>
            <a:endParaRPr lang="en-US" sz="1150" dirty="0"/>
          </a:p>
        </p:txBody>
      </p:sp>
      <p:sp>
        <p:nvSpPr>
          <p:cNvPr id="19" name="Shape 17"/>
          <p:cNvSpPr/>
          <p:nvPr/>
        </p:nvSpPr>
        <p:spPr>
          <a:xfrm>
            <a:off x="3523488" y="3118104"/>
            <a:ext cx="2097024" cy="7315"/>
          </a:xfrm>
          <a:prstGeom prst="rect">
            <a:avLst/>
          </a:prstGeom>
          <a:solidFill>
            <a:srgbClr val="C8CEC8"/>
          </a:solidFill>
          <a:ln/>
        </p:spPr>
      </p:sp>
      <p:sp>
        <p:nvSpPr>
          <p:cNvPr id="20" name="Text 18"/>
          <p:cNvSpPr/>
          <p:nvPr/>
        </p:nvSpPr>
        <p:spPr>
          <a:xfrm>
            <a:off x="3523488" y="3163824"/>
            <a:ext cx="2097024" cy="329184"/>
          </a:xfrm>
          <a:prstGeom prst="rect">
            <a:avLst/>
          </a:prstGeom>
          <a:noFill/>
          <a:ln/>
        </p:spPr>
        <p:txBody>
          <a:bodyPr wrap="square" rtlCol="0" anchor="ctr"/>
          <a:lstStyle/>
          <a:p>
            <a:pPr indent="0" marL="0">
              <a:buNone/>
            </a:pPr>
            <a:r>
              <a:rPr lang="en-US" sz="1150" dirty="0">
                <a:solidFill>
                  <a:srgbClr val="1E3A35"/>
                </a:solidFill>
                <a:latin typeface="Arial" pitchFamily="34" charset="0"/>
                <a:ea typeface="Arial" pitchFamily="34" charset="-122"/>
                <a:cs typeface="Arial" pitchFamily="34" charset="-120"/>
              </a:rPr>
              <a:t>Mise en service</a:t>
            </a:r>
            <a:endParaRPr lang="en-US" sz="1150" dirty="0"/>
          </a:p>
        </p:txBody>
      </p:sp>
      <p:sp>
        <p:nvSpPr>
          <p:cNvPr id="21" name="Shape 19"/>
          <p:cNvSpPr/>
          <p:nvPr/>
        </p:nvSpPr>
        <p:spPr>
          <a:xfrm>
            <a:off x="6141720" y="1508760"/>
            <a:ext cx="2499360" cy="2148840"/>
          </a:xfrm>
          <a:prstGeom prst="rect">
            <a:avLst/>
          </a:prstGeom>
          <a:solidFill>
            <a:srgbClr val="1E3A35"/>
          </a:solidFill>
          <a:ln w="9525">
            <a:solidFill>
              <a:srgbClr val="C8CEC8"/>
            </a:solidFill>
            <a:prstDash val="solid"/>
          </a:ln>
        </p:spPr>
      </p:sp>
      <p:sp>
        <p:nvSpPr>
          <p:cNvPr id="22" name="Text 20"/>
          <p:cNvSpPr/>
          <p:nvPr/>
        </p:nvSpPr>
        <p:spPr>
          <a:xfrm>
            <a:off x="6342888" y="1673352"/>
            <a:ext cx="2097024" cy="237744"/>
          </a:xfrm>
          <a:prstGeom prst="rect">
            <a:avLst/>
          </a:prstGeom>
          <a:noFill/>
          <a:ln/>
        </p:spPr>
        <p:txBody>
          <a:bodyPr wrap="square" rtlCol="0" anchor="ctr"/>
          <a:lstStyle/>
          <a:p>
            <a:pPr indent="0" marL="0">
              <a:buNone/>
            </a:pPr>
            <a:r>
              <a:rPr lang="en-US" sz="1000" spc="150" kern="0" dirty="0">
                <a:solidFill>
                  <a:srgbClr val="8A908C"/>
                </a:solidFill>
                <a:latin typeface="Arial" pitchFamily="34" charset="0"/>
                <a:ea typeface="Arial" pitchFamily="34" charset="-122"/>
                <a:cs typeface="Arial" pitchFamily="34" charset="-120"/>
              </a:rPr>
              <a:t>APRÈS</a:t>
            </a:r>
            <a:endParaRPr lang="en-US" sz="1000" dirty="0"/>
          </a:p>
        </p:txBody>
      </p:sp>
      <p:sp>
        <p:nvSpPr>
          <p:cNvPr id="23" name="Text 21"/>
          <p:cNvSpPr/>
          <p:nvPr/>
        </p:nvSpPr>
        <p:spPr>
          <a:xfrm>
            <a:off x="6342888" y="2011680"/>
            <a:ext cx="2097024" cy="329184"/>
          </a:xfrm>
          <a:prstGeom prst="rect">
            <a:avLst/>
          </a:prstGeom>
          <a:noFill/>
          <a:ln/>
        </p:spPr>
        <p:txBody>
          <a:bodyPr wrap="square" rtlCol="0" anchor="ctr"/>
          <a:lstStyle/>
          <a:p>
            <a:pPr indent="0" marL="0">
              <a:buNone/>
            </a:pPr>
            <a:r>
              <a:rPr lang="en-US" sz="1150" dirty="0">
                <a:solidFill>
                  <a:srgbClr val="EDEEE8"/>
                </a:solidFill>
                <a:latin typeface="Arial" pitchFamily="34" charset="0"/>
                <a:ea typeface="Arial" pitchFamily="34" charset="-122"/>
                <a:cs typeface="Arial" pitchFamily="34" charset="-120"/>
              </a:rPr>
              <a:t>Application incluse</a:t>
            </a:r>
            <a:endParaRPr lang="en-US" sz="1150" dirty="0"/>
          </a:p>
        </p:txBody>
      </p:sp>
      <p:sp>
        <p:nvSpPr>
          <p:cNvPr id="24" name="Shape 22"/>
          <p:cNvSpPr/>
          <p:nvPr/>
        </p:nvSpPr>
        <p:spPr>
          <a:xfrm>
            <a:off x="6342888" y="2350008"/>
            <a:ext cx="2097024" cy="7315"/>
          </a:xfrm>
          <a:prstGeom prst="rect">
            <a:avLst/>
          </a:prstGeom>
          <a:solidFill>
            <a:srgbClr val="35473F"/>
          </a:solidFill>
          <a:ln/>
        </p:spPr>
      </p:sp>
      <p:sp>
        <p:nvSpPr>
          <p:cNvPr id="25" name="Text 23"/>
          <p:cNvSpPr/>
          <p:nvPr/>
        </p:nvSpPr>
        <p:spPr>
          <a:xfrm>
            <a:off x="6342888" y="2395728"/>
            <a:ext cx="2097024" cy="329184"/>
          </a:xfrm>
          <a:prstGeom prst="rect">
            <a:avLst/>
          </a:prstGeom>
          <a:noFill/>
          <a:ln/>
        </p:spPr>
        <p:txBody>
          <a:bodyPr wrap="square" rtlCol="0" anchor="ctr"/>
          <a:lstStyle/>
          <a:p>
            <a:pPr indent="0" marL="0">
              <a:buNone/>
            </a:pPr>
            <a:r>
              <a:rPr lang="en-US" sz="1150" dirty="0">
                <a:solidFill>
                  <a:srgbClr val="EDEEE8"/>
                </a:solidFill>
                <a:latin typeface="Arial" pitchFamily="34" charset="0"/>
                <a:ea typeface="Arial" pitchFamily="34" charset="-122"/>
                <a:cs typeface="Arial" pitchFamily="34" charset="-120"/>
              </a:rPr>
              <a:t>Service client et assistance</a:t>
            </a:r>
            <a:endParaRPr lang="en-US" sz="1150" dirty="0"/>
          </a:p>
        </p:txBody>
      </p:sp>
      <p:sp>
        <p:nvSpPr>
          <p:cNvPr id="26" name="Shape 24"/>
          <p:cNvSpPr/>
          <p:nvPr/>
        </p:nvSpPr>
        <p:spPr>
          <a:xfrm>
            <a:off x="6342888" y="2734056"/>
            <a:ext cx="2097024" cy="7315"/>
          </a:xfrm>
          <a:prstGeom prst="rect">
            <a:avLst/>
          </a:prstGeom>
          <a:solidFill>
            <a:srgbClr val="35473F"/>
          </a:solidFill>
          <a:ln/>
        </p:spPr>
      </p:sp>
      <p:sp>
        <p:nvSpPr>
          <p:cNvPr id="27" name="Text 25"/>
          <p:cNvSpPr/>
          <p:nvPr/>
        </p:nvSpPr>
        <p:spPr>
          <a:xfrm>
            <a:off x="6342888" y="2779776"/>
            <a:ext cx="2097024" cy="329184"/>
          </a:xfrm>
          <a:prstGeom prst="rect">
            <a:avLst/>
          </a:prstGeom>
          <a:noFill/>
          <a:ln/>
        </p:spPr>
        <p:txBody>
          <a:bodyPr wrap="square" rtlCol="0" anchor="ctr"/>
          <a:lstStyle/>
          <a:p>
            <a:pPr indent="0" marL="0">
              <a:buNone/>
            </a:pPr>
            <a:r>
              <a:rPr lang="en-US" sz="1150" dirty="0">
                <a:solidFill>
                  <a:srgbClr val="EDEEE8"/>
                </a:solidFill>
                <a:latin typeface="Arial" pitchFamily="34" charset="0"/>
                <a:ea typeface="Arial" pitchFamily="34" charset="-122"/>
                <a:cs typeface="Arial" pitchFamily="34" charset="-120"/>
              </a:rPr>
              <a:t>Maintenance</a:t>
            </a:r>
            <a:endParaRPr lang="en-US" sz="1150" dirty="0"/>
          </a:p>
        </p:txBody>
      </p:sp>
      <p:sp>
        <p:nvSpPr>
          <p:cNvPr id="28" name="Shape 26"/>
          <p:cNvSpPr/>
          <p:nvPr/>
        </p:nvSpPr>
        <p:spPr>
          <a:xfrm>
            <a:off x="6342888" y="3118104"/>
            <a:ext cx="2097024" cy="7315"/>
          </a:xfrm>
          <a:prstGeom prst="rect">
            <a:avLst/>
          </a:prstGeom>
          <a:solidFill>
            <a:srgbClr val="35473F"/>
          </a:solidFill>
          <a:ln/>
        </p:spPr>
      </p:sp>
      <p:sp>
        <p:nvSpPr>
          <p:cNvPr id="29" name="Text 27"/>
          <p:cNvSpPr/>
          <p:nvPr/>
        </p:nvSpPr>
        <p:spPr>
          <a:xfrm>
            <a:off x="6342888" y="3163824"/>
            <a:ext cx="2097024" cy="329184"/>
          </a:xfrm>
          <a:prstGeom prst="rect">
            <a:avLst/>
          </a:prstGeom>
          <a:noFill/>
          <a:ln/>
        </p:spPr>
        <p:txBody>
          <a:bodyPr wrap="square" rtlCol="0" anchor="ctr"/>
          <a:lstStyle/>
          <a:p>
            <a:pPr indent="0" marL="0">
              <a:buNone/>
            </a:pPr>
            <a:r>
              <a:rPr lang="en-US" sz="1150" dirty="0">
                <a:solidFill>
                  <a:srgbClr val="EDEEE8"/>
                </a:solidFill>
                <a:latin typeface="Arial" pitchFamily="34" charset="0"/>
                <a:ea typeface="Arial" pitchFamily="34" charset="-122"/>
                <a:cs typeface="Arial" pitchFamily="34" charset="-120"/>
              </a:rPr>
              <a:t>Suivi des capteurs</a:t>
            </a:r>
            <a:endParaRPr lang="en-US" sz="1150" dirty="0"/>
          </a:p>
        </p:txBody>
      </p:sp>
      <p:sp>
        <p:nvSpPr>
          <p:cNvPr id="30" name="Shape 28"/>
          <p:cNvSpPr/>
          <p:nvPr/>
        </p:nvSpPr>
        <p:spPr>
          <a:xfrm>
            <a:off x="502920" y="3886200"/>
            <a:ext cx="8138160" cy="457200"/>
          </a:xfrm>
          <a:prstGeom prst="rect">
            <a:avLst/>
          </a:prstGeom>
          <a:solidFill>
            <a:srgbClr val="E4E6DF"/>
          </a:solidFill>
          <a:ln w="9525">
            <a:solidFill>
              <a:srgbClr val="C8CEC8"/>
            </a:solidFill>
            <a:prstDash val="solid"/>
          </a:ln>
        </p:spPr>
      </p:sp>
      <p:sp>
        <p:nvSpPr>
          <p:cNvPr id="31" name="Text 29"/>
          <p:cNvSpPr/>
          <p:nvPr/>
        </p:nvSpPr>
        <p:spPr>
          <a:xfrm>
            <a:off x="502920" y="3886200"/>
            <a:ext cx="8138160" cy="457200"/>
          </a:xfrm>
          <a:prstGeom prst="rect">
            <a:avLst/>
          </a:prstGeom>
          <a:noFill/>
          <a:ln/>
        </p:spPr>
        <p:txBody>
          <a:bodyPr wrap="square" rtlCol="0" anchor="ctr"/>
          <a:lstStyle/>
          <a:p>
            <a:pPr algn="ctr" indent="0" marL="0">
              <a:buNone/>
            </a:pPr>
            <a:r>
              <a:rPr lang="en-US" sz="1300" b="1" dirty="0">
                <a:solidFill>
                  <a:srgbClr val="1E3A35"/>
                </a:solidFill>
                <a:latin typeface="Arial" pitchFamily="34" charset="0"/>
                <a:ea typeface="Arial" pitchFamily="34" charset="-122"/>
                <a:cs typeface="Arial" pitchFamily="34" charset="-120"/>
              </a:rPr>
              <a:t>Ombrair reste l'interlocuteur du client après l'installation.</a:t>
            </a:r>
            <a:endParaRPr lang="en-US" sz="1300" dirty="0"/>
          </a:p>
        </p:txBody>
      </p:sp>
      <p:sp>
        <p:nvSpPr>
          <p:cNvPr id="32" name="Text 30"/>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33" name="Text 31"/>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EE8"/>
        </a:solidFill>
      </p:bgPr>
    </p:bg>
    <p:spTree>
      <p:nvGrpSpPr>
        <p:cNvPr id="1" name=""/>
        <p:cNvGrpSpPr/>
        <p:nvPr/>
      </p:nvGrpSpPr>
      <p:grpSpPr>
        <a:xfrm>
          <a:off x="0" y="0"/>
          <a:ext cx="0" cy="0"/>
          <a:chOff x="0" y="0"/>
          <a:chExt cx="0" cy="0"/>
        </a:xfrm>
      </p:grpSpPr>
      <p:sp>
        <p:nvSpPr>
          <p:cNvPr id="2" name="Text 0"/>
          <p:cNvSpPr/>
          <p:nvPr/>
        </p:nvSpPr>
        <p:spPr>
          <a:xfrm>
            <a:off x="502920" y="411480"/>
            <a:ext cx="8138160" cy="201168"/>
          </a:xfrm>
          <a:prstGeom prst="rect">
            <a:avLst/>
          </a:prstGeom>
          <a:noFill/>
          <a:ln/>
        </p:spPr>
        <p:txBody>
          <a:bodyPr wrap="square" rtlCol="0" anchor="ctr"/>
          <a:lstStyle/>
          <a:p>
            <a:pPr indent="0" marL="0">
              <a:buNone/>
            </a:pPr>
            <a:r>
              <a:rPr lang="en-US" sz="1000" spc="160" kern="0" dirty="0">
                <a:solidFill>
                  <a:srgbClr val="667974"/>
                </a:solidFill>
                <a:latin typeface="Arial" pitchFamily="34" charset="0"/>
                <a:ea typeface="Arial" pitchFamily="34" charset="-122"/>
                <a:cs typeface="Arial" pitchFamily="34" charset="-120"/>
              </a:rPr>
              <a:t>TROIS PRODUITS QUI FONCTIONNENT ENSEMBLE</a:t>
            </a:r>
            <a:endParaRPr lang="en-US" sz="1000" dirty="0"/>
          </a:p>
        </p:txBody>
      </p:sp>
      <p:sp>
        <p:nvSpPr>
          <p:cNvPr id="3" name="Text 1"/>
          <p:cNvSpPr/>
          <p:nvPr/>
        </p:nvSpPr>
        <p:spPr>
          <a:xfrm>
            <a:off x="502920" y="685800"/>
            <a:ext cx="8138160" cy="502920"/>
          </a:xfrm>
          <a:prstGeom prst="rect">
            <a:avLst/>
          </a:prstGeom>
          <a:noFill/>
          <a:ln/>
        </p:spPr>
        <p:txBody>
          <a:bodyPr wrap="square" rtlCol="0" anchor="ctr"/>
          <a:lstStyle/>
          <a:p>
            <a:pPr indent="0" marL="0">
              <a:buNone/>
            </a:pPr>
            <a:r>
              <a:rPr lang="en-US" sz="2600" b="1" dirty="0">
                <a:solidFill>
                  <a:srgbClr val="1E3A35"/>
                </a:solidFill>
                <a:latin typeface="Arial" pitchFamily="34" charset="0"/>
                <a:ea typeface="Arial" pitchFamily="34" charset="-122"/>
                <a:cs typeface="Arial" pitchFamily="34" charset="-120"/>
              </a:rPr>
              <a:t>Capteur · Volet · Fenêtre</a:t>
            </a:r>
            <a:endParaRPr lang="en-US" sz="2600" dirty="0"/>
          </a:p>
        </p:txBody>
      </p:sp>
      <p:sp>
        <p:nvSpPr>
          <p:cNvPr id="4" name="Shape 2"/>
          <p:cNvSpPr/>
          <p:nvPr/>
        </p:nvSpPr>
        <p:spPr>
          <a:xfrm>
            <a:off x="502920" y="1252728"/>
            <a:ext cx="8138160" cy="10973"/>
          </a:xfrm>
          <a:prstGeom prst="rect">
            <a:avLst/>
          </a:prstGeom>
          <a:solidFill>
            <a:srgbClr val="C8CEC8"/>
          </a:solidFill>
          <a:ln/>
        </p:spPr>
      </p:sp>
      <p:sp>
        <p:nvSpPr>
          <p:cNvPr id="5" name="Shape 3"/>
          <p:cNvSpPr/>
          <p:nvPr/>
        </p:nvSpPr>
        <p:spPr>
          <a:xfrm>
            <a:off x="502920" y="1508760"/>
            <a:ext cx="2499360" cy="2468880"/>
          </a:xfrm>
          <a:prstGeom prst="rect">
            <a:avLst/>
          </a:prstGeom>
          <a:solidFill>
            <a:srgbClr val="E4E6DF"/>
          </a:solidFill>
          <a:ln w="9525">
            <a:solidFill>
              <a:srgbClr val="C8CEC8"/>
            </a:solidFill>
            <a:prstDash val="solid"/>
          </a:ln>
        </p:spPr>
      </p:sp>
      <p:sp>
        <p:nvSpPr>
          <p:cNvPr id="6" name="Shape 4"/>
          <p:cNvSpPr/>
          <p:nvPr/>
        </p:nvSpPr>
        <p:spPr>
          <a:xfrm>
            <a:off x="502920" y="1508760"/>
            <a:ext cx="2499360" cy="45720"/>
          </a:xfrm>
          <a:prstGeom prst="rect">
            <a:avLst/>
          </a:prstGeom>
          <a:solidFill>
            <a:srgbClr val="1E3A35"/>
          </a:solidFill>
          <a:ln/>
        </p:spPr>
      </p:sp>
      <p:sp>
        <p:nvSpPr>
          <p:cNvPr id="7" name="Text 5"/>
          <p:cNvSpPr/>
          <p:nvPr/>
        </p:nvSpPr>
        <p:spPr>
          <a:xfrm>
            <a:off x="704088" y="1691640"/>
            <a:ext cx="2097024" cy="292608"/>
          </a:xfrm>
          <a:prstGeom prst="rect">
            <a:avLst/>
          </a:prstGeom>
          <a:noFill/>
          <a:ln/>
        </p:spPr>
        <p:txBody>
          <a:bodyPr wrap="square" rtlCol="0" anchor="ctr"/>
          <a:lstStyle/>
          <a:p>
            <a:pPr indent="0" marL="0">
              <a:buNone/>
            </a:pPr>
            <a:r>
              <a:rPr lang="en-US" sz="1700" b="1" dirty="0">
                <a:solidFill>
                  <a:srgbClr val="1E3A35"/>
                </a:solidFill>
                <a:latin typeface="Arial" pitchFamily="34" charset="0"/>
                <a:ea typeface="Arial" pitchFamily="34" charset="-122"/>
                <a:cs typeface="Arial" pitchFamily="34" charset="-120"/>
              </a:rPr>
              <a:t>Capteur</a:t>
            </a:r>
            <a:endParaRPr lang="en-US" sz="1700" dirty="0"/>
          </a:p>
        </p:txBody>
      </p:sp>
      <p:sp>
        <p:nvSpPr>
          <p:cNvPr id="8" name="Text 6"/>
          <p:cNvSpPr/>
          <p:nvPr/>
        </p:nvSpPr>
        <p:spPr>
          <a:xfrm>
            <a:off x="704088" y="2039112"/>
            <a:ext cx="2097024" cy="365760"/>
          </a:xfrm>
          <a:prstGeom prst="rect">
            <a:avLst/>
          </a:prstGeom>
          <a:noFill/>
          <a:ln/>
        </p:spPr>
        <p:txBody>
          <a:bodyPr wrap="square" rtlCol="0" anchor="ctr"/>
          <a:lstStyle/>
          <a:p>
            <a:pPr indent="0" marL="0">
              <a:buNone/>
            </a:pPr>
            <a:r>
              <a:rPr lang="en-US" sz="2200" dirty="0">
                <a:solidFill>
                  <a:srgbClr val="1E3A35"/>
                </a:solidFill>
                <a:latin typeface="Consolas" pitchFamily="34" charset="0"/>
                <a:ea typeface="Consolas" pitchFamily="34" charset="-122"/>
                <a:cs typeface="Consolas" pitchFamily="34" charset="-120"/>
              </a:rPr>
              <a:t>349 €</a:t>
            </a:r>
            <a:endParaRPr lang="en-US" sz="2200" dirty="0"/>
          </a:p>
        </p:txBody>
      </p:sp>
      <p:sp>
        <p:nvSpPr>
          <p:cNvPr id="9" name="Text 7"/>
          <p:cNvSpPr/>
          <p:nvPr/>
        </p:nvSpPr>
        <p:spPr>
          <a:xfrm>
            <a:off x="704088" y="2423160"/>
            <a:ext cx="2097024" cy="256032"/>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kit de base</a:t>
            </a:r>
            <a:endParaRPr lang="en-US" sz="900" dirty="0"/>
          </a:p>
        </p:txBody>
      </p:sp>
      <p:sp>
        <p:nvSpPr>
          <p:cNvPr id="10" name="Shape 8"/>
          <p:cNvSpPr/>
          <p:nvPr/>
        </p:nvSpPr>
        <p:spPr>
          <a:xfrm>
            <a:off x="704088" y="2715768"/>
            <a:ext cx="2097024" cy="7315"/>
          </a:xfrm>
          <a:prstGeom prst="rect">
            <a:avLst/>
          </a:prstGeom>
          <a:solidFill>
            <a:srgbClr val="C8CEC8"/>
          </a:solidFill>
          <a:ln/>
        </p:spPr>
      </p:sp>
      <p:sp>
        <p:nvSpPr>
          <p:cNvPr id="11" name="Text 9"/>
          <p:cNvSpPr/>
          <p:nvPr/>
        </p:nvSpPr>
        <p:spPr>
          <a:xfrm>
            <a:off x="704088" y="2807208"/>
            <a:ext cx="2097024" cy="182880"/>
          </a:xfrm>
          <a:prstGeom prst="rect">
            <a:avLst/>
          </a:prstGeom>
          <a:noFill/>
          <a:ln/>
        </p:spPr>
        <p:txBody>
          <a:bodyPr wrap="square" rtlCol="0" anchor="ctr"/>
          <a:lstStyle/>
          <a:p>
            <a:pPr indent="0" marL="0">
              <a:buNone/>
            </a:pPr>
            <a:r>
              <a:rPr lang="en-US" sz="850" spc="100" kern="0" dirty="0">
                <a:solidFill>
                  <a:srgbClr val="667974"/>
                </a:solidFill>
                <a:latin typeface="Arial" pitchFamily="34" charset="0"/>
                <a:ea typeface="Arial" pitchFamily="34" charset="-122"/>
                <a:cs typeface="Arial" pitchFamily="34" charset="-120"/>
              </a:rPr>
              <a:t>Origine</a:t>
            </a:r>
            <a:endParaRPr lang="en-US" sz="850" dirty="0"/>
          </a:p>
        </p:txBody>
      </p:sp>
      <p:sp>
        <p:nvSpPr>
          <p:cNvPr id="12" name="Text 10"/>
          <p:cNvSpPr/>
          <p:nvPr/>
        </p:nvSpPr>
        <p:spPr>
          <a:xfrm>
            <a:off x="704088" y="2990088"/>
            <a:ext cx="2097024" cy="365760"/>
          </a:xfrm>
          <a:prstGeom prst="rect">
            <a:avLst/>
          </a:prstGeom>
          <a:noFill/>
          <a:ln/>
        </p:spPr>
        <p:txBody>
          <a:bodyPr wrap="square" rtlCol="0" anchor="ctr"/>
          <a:lstStyle/>
          <a:p>
            <a:pPr indent="0" marL="0">
              <a:buNone/>
            </a:pPr>
            <a:r>
              <a:rPr lang="en-US" sz="1100" b="1" dirty="0">
                <a:solidFill>
                  <a:srgbClr val="1E3A35"/>
                </a:solidFill>
                <a:latin typeface="Arial" pitchFamily="34" charset="0"/>
                <a:ea typeface="Arial" pitchFamily="34" charset="-122"/>
                <a:cs typeface="Arial" pitchFamily="34" charset="-120"/>
              </a:rPr>
              <a:t>Conçu et fabriqué par Ombrair</a:t>
            </a:r>
            <a:endParaRPr lang="en-US" sz="1100" dirty="0"/>
          </a:p>
        </p:txBody>
      </p:sp>
      <p:sp>
        <p:nvSpPr>
          <p:cNvPr id="13" name="Text 11"/>
          <p:cNvSpPr/>
          <p:nvPr/>
        </p:nvSpPr>
        <p:spPr>
          <a:xfrm>
            <a:off x="704088" y="3374136"/>
            <a:ext cx="2097024" cy="548640"/>
          </a:xfrm>
          <a:prstGeom prst="rect">
            <a:avLst/>
          </a:prstGeom>
          <a:noFill/>
          <a:ln/>
        </p:spPr>
        <p:txBody>
          <a:bodyPr wrap="square" rtlCol="0" anchor="ctr"/>
          <a:lstStyle/>
          <a:p>
            <a:pPr indent="0" marL="0">
              <a:lnSpc>
                <a:spcPts val="1200"/>
              </a:lnSpc>
              <a:buNone/>
            </a:pPr>
            <a:r>
              <a:rPr lang="en-US" sz="950" dirty="0">
                <a:solidFill>
                  <a:srgbClr val="667974"/>
                </a:solidFill>
                <a:latin typeface="Arial" pitchFamily="34" charset="0"/>
                <a:ea typeface="Arial" pitchFamily="34" charset="-122"/>
                <a:cs typeface="Arial" pitchFamily="34" charset="-120"/>
              </a:rPr>
              <a:t>Passerelle, capteurs intérieurs et extérieur, modules de pilotage à clipser dans les coffres existants.</a:t>
            </a:r>
            <a:endParaRPr lang="en-US" sz="950" dirty="0"/>
          </a:p>
        </p:txBody>
      </p:sp>
      <p:sp>
        <p:nvSpPr>
          <p:cNvPr id="14" name="Shape 12"/>
          <p:cNvSpPr/>
          <p:nvPr/>
        </p:nvSpPr>
        <p:spPr>
          <a:xfrm>
            <a:off x="3322320" y="1508760"/>
            <a:ext cx="2499360" cy="2468880"/>
          </a:xfrm>
          <a:prstGeom prst="rect">
            <a:avLst/>
          </a:prstGeom>
          <a:solidFill>
            <a:srgbClr val="E4E6DF"/>
          </a:solidFill>
          <a:ln w="9525">
            <a:solidFill>
              <a:srgbClr val="C8CEC8"/>
            </a:solidFill>
            <a:prstDash val="solid"/>
          </a:ln>
        </p:spPr>
      </p:sp>
      <p:sp>
        <p:nvSpPr>
          <p:cNvPr id="15" name="Shape 13"/>
          <p:cNvSpPr/>
          <p:nvPr/>
        </p:nvSpPr>
        <p:spPr>
          <a:xfrm>
            <a:off x="3322320" y="1508760"/>
            <a:ext cx="2499360" cy="45720"/>
          </a:xfrm>
          <a:prstGeom prst="rect">
            <a:avLst/>
          </a:prstGeom>
          <a:solidFill>
            <a:srgbClr val="1E3A35"/>
          </a:solidFill>
          <a:ln/>
        </p:spPr>
      </p:sp>
      <p:sp>
        <p:nvSpPr>
          <p:cNvPr id="16" name="Text 14"/>
          <p:cNvSpPr/>
          <p:nvPr/>
        </p:nvSpPr>
        <p:spPr>
          <a:xfrm>
            <a:off x="3523488" y="1691640"/>
            <a:ext cx="2097024" cy="292608"/>
          </a:xfrm>
          <a:prstGeom prst="rect">
            <a:avLst/>
          </a:prstGeom>
          <a:noFill/>
          <a:ln/>
        </p:spPr>
        <p:txBody>
          <a:bodyPr wrap="square" rtlCol="0" anchor="ctr"/>
          <a:lstStyle/>
          <a:p>
            <a:pPr indent="0" marL="0">
              <a:buNone/>
            </a:pPr>
            <a:r>
              <a:rPr lang="en-US" sz="1700" b="1" dirty="0">
                <a:solidFill>
                  <a:srgbClr val="1E3A35"/>
                </a:solidFill>
                <a:latin typeface="Arial" pitchFamily="34" charset="0"/>
                <a:ea typeface="Arial" pitchFamily="34" charset="-122"/>
                <a:cs typeface="Arial" pitchFamily="34" charset="-120"/>
              </a:rPr>
              <a:t>Volet</a:t>
            </a:r>
            <a:endParaRPr lang="en-US" sz="1700" dirty="0"/>
          </a:p>
        </p:txBody>
      </p:sp>
      <p:sp>
        <p:nvSpPr>
          <p:cNvPr id="17" name="Text 15"/>
          <p:cNvSpPr/>
          <p:nvPr/>
        </p:nvSpPr>
        <p:spPr>
          <a:xfrm>
            <a:off x="3523488" y="2039112"/>
            <a:ext cx="2097024" cy="365760"/>
          </a:xfrm>
          <a:prstGeom prst="rect">
            <a:avLst/>
          </a:prstGeom>
          <a:noFill/>
          <a:ln/>
        </p:spPr>
        <p:txBody>
          <a:bodyPr wrap="square" rtlCol="0" anchor="ctr"/>
          <a:lstStyle/>
          <a:p>
            <a:pPr indent="0" marL="0">
              <a:buNone/>
            </a:pPr>
            <a:r>
              <a:rPr lang="en-US" sz="2200" dirty="0">
                <a:solidFill>
                  <a:srgbClr val="1E3A35"/>
                </a:solidFill>
                <a:latin typeface="Consolas" pitchFamily="34" charset="0"/>
                <a:ea typeface="Consolas" pitchFamily="34" charset="-122"/>
                <a:cs typeface="Consolas" pitchFamily="34" charset="-120"/>
              </a:rPr>
              <a:t>690 €</a:t>
            </a:r>
            <a:endParaRPr lang="en-US" sz="2200" dirty="0"/>
          </a:p>
        </p:txBody>
      </p:sp>
      <p:sp>
        <p:nvSpPr>
          <p:cNvPr id="18" name="Text 16"/>
          <p:cNvSpPr/>
          <p:nvPr/>
        </p:nvSpPr>
        <p:spPr>
          <a:xfrm>
            <a:off x="3523488" y="2423160"/>
            <a:ext cx="2097024" cy="256032"/>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à partir de, par ouvrant posé</a:t>
            </a:r>
            <a:endParaRPr lang="en-US" sz="900" dirty="0"/>
          </a:p>
        </p:txBody>
      </p:sp>
      <p:sp>
        <p:nvSpPr>
          <p:cNvPr id="19" name="Shape 17"/>
          <p:cNvSpPr/>
          <p:nvPr/>
        </p:nvSpPr>
        <p:spPr>
          <a:xfrm>
            <a:off x="3523488" y="2715768"/>
            <a:ext cx="2097024" cy="7315"/>
          </a:xfrm>
          <a:prstGeom prst="rect">
            <a:avLst/>
          </a:prstGeom>
          <a:solidFill>
            <a:srgbClr val="C8CEC8"/>
          </a:solidFill>
          <a:ln/>
        </p:spPr>
      </p:sp>
      <p:sp>
        <p:nvSpPr>
          <p:cNvPr id="20" name="Text 18"/>
          <p:cNvSpPr/>
          <p:nvPr/>
        </p:nvSpPr>
        <p:spPr>
          <a:xfrm>
            <a:off x="3523488" y="2807208"/>
            <a:ext cx="2097024" cy="182880"/>
          </a:xfrm>
          <a:prstGeom prst="rect">
            <a:avLst/>
          </a:prstGeom>
          <a:noFill/>
          <a:ln/>
        </p:spPr>
        <p:txBody>
          <a:bodyPr wrap="square" rtlCol="0" anchor="ctr"/>
          <a:lstStyle/>
          <a:p>
            <a:pPr indent="0" marL="0">
              <a:buNone/>
            </a:pPr>
            <a:r>
              <a:rPr lang="en-US" sz="850" spc="100" kern="0" dirty="0">
                <a:solidFill>
                  <a:srgbClr val="667974"/>
                </a:solidFill>
                <a:latin typeface="Arial" pitchFamily="34" charset="0"/>
                <a:ea typeface="Arial" pitchFamily="34" charset="-122"/>
                <a:cs typeface="Arial" pitchFamily="34" charset="-120"/>
              </a:rPr>
              <a:t>Origine</a:t>
            </a:r>
            <a:endParaRPr lang="en-US" sz="850" dirty="0"/>
          </a:p>
        </p:txBody>
      </p:sp>
      <p:sp>
        <p:nvSpPr>
          <p:cNvPr id="21" name="Text 19"/>
          <p:cNvSpPr/>
          <p:nvPr/>
        </p:nvSpPr>
        <p:spPr>
          <a:xfrm>
            <a:off x="3523488" y="2990088"/>
            <a:ext cx="2097024" cy="365760"/>
          </a:xfrm>
          <a:prstGeom prst="rect">
            <a:avLst/>
          </a:prstGeom>
          <a:noFill/>
          <a:ln/>
        </p:spPr>
        <p:txBody>
          <a:bodyPr wrap="square" rtlCol="0" anchor="ctr"/>
          <a:lstStyle/>
          <a:p>
            <a:pPr indent="0" marL="0">
              <a:buNone/>
            </a:pPr>
            <a:r>
              <a:rPr lang="en-US" sz="1100" b="1" dirty="0">
                <a:solidFill>
                  <a:srgbClr val="1E3A35"/>
                </a:solidFill>
                <a:latin typeface="Arial" pitchFamily="34" charset="0"/>
                <a:ea typeface="Arial" pitchFamily="34" charset="-122"/>
                <a:cs typeface="Arial" pitchFamily="34" charset="-120"/>
              </a:rPr>
              <a:t>Fabricant spécialisé, installé par Ombrair</a:t>
            </a:r>
            <a:endParaRPr lang="en-US" sz="1100" dirty="0"/>
          </a:p>
        </p:txBody>
      </p:sp>
      <p:sp>
        <p:nvSpPr>
          <p:cNvPr id="22" name="Text 20"/>
          <p:cNvSpPr/>
          <p:nvPr/>
        </p:nvSpPr>
        <p:spPr>
          <a:xfrm>
            <a:off x="3523488" y="3374136"/>
            <a:ext cx="2097024" cy="548640"/>
          </a:xfrm>
          <a:prstGeom prst="rect">
            <a:avLst/>
          </a:prstGeom>
          <a:noFill/>
          <a:ln/>
        </p:spPr>
        <p:txBody>
          <a:bodyPr wrap="square" rtlCol="0" anchor="ctr"/>
          <a:lstStyle/>
          <a:p>
            <a:pPr indent="0" marL="0">
              <a:lnSpc>
                <a:spcPts val="1200"/>
              </a:lnSpc>
              <a:buNone/>
            </a:pPr>
            <a:r>
              <a:rPr lang="en-US" sz="950" dirty="0">
                <a:solidFill>
                  <a:srgbClr val="667974"/>
                </a:solidFill>
                <a:latin typeface="Arial" pitchFamily="34" charset="0"/>
                <a:ea typeface="Arial" pitchFamily="34" charset="-122"/>
                <a:cs typeface="Arial" pitchFamily="34" charset="-120"/>
              </a:rPr>
              <a:t>Volet roulant motorisé, motorisation solaire ou filaire, pose comprise, plus l'intégration Ombrair.</a:t>
            </a:r>
            <a:endParaRPr lang="en-US" sz="950" dirty="0"/>
          </a:p>
        </p:txBody>
      </p:sp>
      <p:sp>
        <p:nvSpPr>
          <p:cNvPr id="23" name="Shape 21"/>
          <p:cNvSpPr/>
          <p:nvPr/>
        </p:nvSpPr>
        <p:spPr>
          <a:xfrm>
            <a:off x="6141720" y="1508760"/>
            <a:ext cx="2499360" cy="2468880"/>
          </a:xfrm>
          <a:prstGeom prst="rect">
            <a:avLst/>
          </a:prstGeom>
          <a:solidFill>
            <a:srgbClr val="E4E6DF"/>
          </a:solidFill>
          <a:ln w="9525">
            <a:solidFill>
              <a:srgbClr val="C8CEC8"/>
            </a:solidFill>
            <a:prstDash val="solid"/>
          </a:ln>
        </p:spPr>
      </p:sp>
      <p:sp>
        <p:nvSpPr>
          <p:cNvPr id="24" name="Shape 22"/>
          <p:cNvSpPr/>
          <p:nvPr/>
        </p:nvSpPr>
        <p:spPr>
          <a:xfrm>
            <a:off x="6141720" y="1508760"/>
            <a:ext cx="2499360" cy="45720"/>
          </a:xfrm>
          <a:prstGeom prst="rect">
            <a:avLst/>
          </a:prstGeom>
          <a:solidFill>
            <a:srgbClr val="1E3A35"/>
          </a:solidFill>
          <a:ln/>
        </p:spPr>
      </p:sp>
      <p:sp>
        <p:nvSpPr>
          <p:cNvPr id="25" name="Text 23"/>
          <p:cNvSpPr/>
          <p:nvPr/>
        </p:nvSpPr>
        <p:spPr>
          <a:xfrm>
            <a:off x="6342888" y="1691640"/>
            <a:ext cx="2097024" cy="292608"/>
          </a:xfrm>
          <a:prstGeom prst="rect">
            <a:avLst/>
          </a:prstGeom>
          <a:noFill/>
          <a:ln/>
        </p:spPr>
        <p:txBody>
          <a:bodyPr wrap="square" rtlCol="0" anchor="ctr"/>
          <a:lstStyle/>
          <a:p>
            <a:pPr indent="0" marL="0">
              <a:buNone/>
            </a:pPr>
            <a:r>
              <a:rPr lang="en-US" sz="1700" b="1" dirty="0">
                <a:solidFill>
                  <a:srgbClr val="1E3A35"/>
                </a:solidFill>
                <a:latin typeface="Arial" pitchFamily="34" charset="0"/>
                <a:ea typeface="Arial" pitchFamily="34" charset="-122"/>
                <a:cs typeface="Arial" pitchFamily="34" charset="-120"/>
              </a:rPr>
              <a:t>Fenêtre</a:t>
            </a:r>
            <a:endParaRPr lang="en-US" sz="1700" dirty="0"/>
          </a:p>
        </p:txBody>
      </p:sp>
      <p:sp>
        <p:nvSpPr>
          <p:cNvPr id="26" name="Text 24"/>
          <p:cNvSpPr/>
          <p:nvPr/>
        </p:nvSpPr>
        <p:spPr>
          <a:xfrm>
            <a:off x="6342888" y="2039112"/>
            <a:ext cx="2097024" cy="365760"/>
          </a:xfrm>
          <a:prstGeom prst="rect">
            <a:avLst/>
          </a:prstGeom>
          <a:noFill/>
          <a:ln/>
        </p:spPr>
        <p:txBody>
          <a:bodyPr wrap="square" rtlCol="0" anchor="ctr"/>
          <a:lstStyle/>
          <a:p>
            <a:pPr indent="0" marL="0">
              <a:buNone/>
            </a:pPr>
            <a:r>
              <a:rPr lang="en-US" sz="2200" dirty="0">
                <a:solidFill>
                  <a:srgbClr val="1E3A35"/>
                </a:solidFill>
                <a:latin typeface="Consolas" pitchFamily="34" charset="0"/>
                <a:ea typeface="Consolas" pitchFamily="34" charset="-122"/>
                <a:cs typeface="Consolas" pitchFamily="34" charset="-120"/>
              </a:rPr>
              <a:t>1 590 €</a:t>
            </a:r>
            <a:endParaRPr lang="en-US" sz="2200" dirty="0"/>
          </a:p>
        </p:txBody>
      </p:sp>
      <p:sp>
        <p:nvSpPr>
          <p:cNvPr id="27" name="Text 25"/>
          <p:cNvSpPr/>
          <p:nvPr/>
        </p:nvSpPr>
        <p:spPr>
          <a:xfrm>
            <a:off x="6342888" y="2423160"/>
            <a:ext cx="2097024" cy="256032"/>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à partir de, par ouvrant posé</a:t>
            </a:r>
            <a:endParaRPr lang="en-US" sz="900" dirty="0"/>
          </a:p>
        </p:txBody>
      </p:sp>
      <p:sp>
        <p:nvSpPr>
          <p:cNvPr id="28" name="Shape 26"/>
          <p:cNvSpPr/>
          <p:nvPr/>
        </p:nvSpPr>
        <p:spPr>
          <a:xfrm>
            <a:off x="6342888" y="2715768"/>
            <a:ext cx="2097024" cy="7315"/>
          </a:xfrm>
          <a:prstGeom prst="rect">
            <a:avLst/>
          </a:prstGeom>
          <a:solidFill>
            <a:srgbClr val="C8CEC8"/>
          </a:solidFill>
          <a:ln/>
        </p:spPr>
      </p:sp>
      <p:sp>
        <p:nvSpPr>
          <p:cNvPr id="29" name="Text 27"/>
          <p:cNvSpPr/>
          <p:nvPr/>
        </p:nvSpPr>
        <p:spPr>
          <a:xfrm>
            <a:off x="6342888" y="2807208"/>
            <a:ext cx="2097024" cy="182880"/>
          </a:xfrm>
          <a:prstGeom prst="rect">
            <a:avLst/>
          </a:prstGeom>
          <a:noFill/>
          <a:ln/>
        </p:spPr>
        <p:txBody>
          <a:bodyPr wrap="square" rtlCol="0" anchor="ctr"/>
          <a:lstStyle/>
          <a:p>
            <a:pPr indent="0" marL="0">
              <a:buNone/>
            </a:pPr>
            <a:r>
              <a:rPr lang="en-US" sz="850" spc="100" kern="0" dirty="0">
                <a:solidFill>
                  <a:srgbClr val="667974"/>
                </a:solidFill>
                <a:latin typeface="Arial" pitchFamily="34" charset="0"/>
                <a:ea typeface="Arial" pitchFamily="34" charset="-122"/>
                <a:cs typeface="Arial" pitchFamily="34" charset="-120"/>
              </a:rPr>
              <a:t>Origine</a:t>
            </a:r>
            <a:endParaRPr lang="en-US" sz="850" dirty="0"/>
          </a:p>
        </p:txBody>
      </p:sp>
      <p:sp>
        <p:nvSpPr>
          <p:cNvPr id="30" name="Text 28"/>
          <p:cNvSpPr/>
          <p:nvPr/>
        </p:nvSpPr>
        <p:spPr>
          <a:xfrm>
            <a:off x="6342888" y="2990088"/>
            <a:ext cx="2097024" cy="365760"/>
          </a:xfrm>
          <a:prstGeom prst="rect">
            <a:avLst/>
          </a:prstGeom>
          <a:noFill/>
          <a:ln/>
        </p:spPr>
        <p:txBody>
          <a:bodyPr wrap="square" rtlCol="0" anchor="ctr"/>
          <a:lstStyle/>
          <a:p>
            <a:pPr indent="0" marL="0">
              <a:buNone/>
            </a:pPr>
            <a:r>
              <a:rPr lang="en-US" sz="1100" b="1" dirty="0">
                <a:solidFill>
                  <a:srgbClr val="1E3A35"/>
                </a:solidFill>
                <a:latin typeface="Arial" pitchFamily="34" charset="0"/>
                <a:ea typeface="Arial" pitchFamily="34" charset="-122"/>
                <a:cs typeface="Arial" pitchFamily="34" charset="-120"/>
              </a:rPr>
              <a:t>Fabricant spécialisé, installé par Ombrair</a:t>
            </a:r>
            <a:endParaRPr lang="en-US" sz="1100" dirty="0"/>
          </a:p>
        </p:txBody>
      </p:sp>
      <p:sp>
        <p:nvSpPr>
          <p:cNvPr id="31" name="Text 29"/>
          <p:cNvSpPr/>
          <p:nvPr/>
        </p:nvSpPr>
        <p:spPr>
          <a:xfrm>
            <a:off x="6342888" y="3374136"/>
            <a:ext cx="2097024" cy="548640"/>
          </a:xfrm>
          <a:prstGeom prst="rect">
            <a:avLst/>
          </a:prstGeom>
          <a:noFill/>
          <a:ln/>
        </p:spPr>
        <p:txBody>
          <a:bodyPr wrap="square" rtlCol="0" anchor="ctr"/>
          <a:lstStyle/>
          <a:p>
            <a:pPr indent="0" marL="0">
              <a:lnSpc>
                <a:spcPts val="1200"/>
              </a:lnSpc>
              <a:buNone/>
            </a:pPr>
            <a:r>
              <a:rPr lang="en-US" sz="950" dirty="0">
                <a:solidFill>
                  <a:srgbClr val="667974"/>
                </a:solidFill>
                <a:latin typeface="Arial" pitchFamily="34" charset="0"/>
                <a:ea typeface="Arial" pitchFamily="34" charset="-122"/>
                <a:cs typeface="Arial" pitchFamily="34" charset="-120"/>
              </a:rPr>
              <a:t>Fenêtre à contrôle solaire et volet motorisé, posés ensemble avec les capteurs.</a:t>
            </a:r>
            <a:endParaRPr lang="en-US" sz="950" dirty="0"/>
          </a:p>
        </p:txBody>
      </p:sp>
      <p:sp>
        <p:nvSpPr>
          <p:cNvPr id="32" name="Shape 30"/>
          <p:cNvSpPr/>
          <p:nvPr/>
        </p:nvSpPr>
        <p:spPr>
          <a:xfrm>
            <a:off x="502920" y="4160520"/>
            <a:ext cx="8138160" cy="420624"/>
          </a:xfrm>
          <a:prstGeom prst="rect">
            <a:avLst/>
          </a:prstGeom>
          <a:solidFill>
            <a:srgbClr val="1E3A35"/>
          </a:solidFill>
          <a:ln/>
        </p:spPr>
      </p:sp>
      <p:sp>
        <p:nvSpPr>
          <p:cNvPr id="33" name="Text 31"/>
          <p:cNvSpPr/>
          <p:nvPr/>
        </p:nvSpPr>
        <p:spPr>
          <a:xfrm>
            <a:off x="502920" y="4160520"/>
            <a:ext cx="8138160" cy="420624"/>
          </a:xfrm>
          <a:prstGeom prst="rect">
            <a:avLst/>
          </a:prstGeom>
          <a:noFill/>
          <a:ln/>
        </p:spPr>
        <p:txBody>
          <a:bodyPr wrap="square" rtlCol="0" anchor="ctr"/>
          <a:lstStyle/>
          <a:p>
            <a:pPr algn="ctr" indent="0" marL="0">
              <a:buNone/>
            </a:pPr>
            <a:r>
              <a:rPr lang="en-US" sz="1150" b="1" dirty="0">
                <a:solidFill>
                  <a:srgbClr val="EDEEE8"/>
                </a:solidFill>
                <a:latin typeface="Arial" pitchFamily="34" charset="0"/>
                <a:ea typeface="Arial" pitchFamily="34" charset="-122"/>
                <a:cs typeface="Arial" pitchFamily="34" charset="-120"/>
              </a:rPr>
              <a:t>Application incluse à vie dans les trois offres  ·  Ombrair+ : option facultative</a:t>
            </a:r>
            <a:endParaRPr lang="en-US" sz="1150" dirty="0"/>
          </a:p>
        </p:txBody>
      </p:sp>
      <p:sp>
        <p:nvSpPr>
          <p:cNvPr id="34" name="Text 32"/>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667974"/>
                </a:solidFill>
                <a:latin typeface="Arial" pitchFamily="34" charset="0"/>
                <a:ea typeface="Arial" pitchFamily="34" charset="-122"/>
                <a:cs typeface="Arial" pitchFamily="34" charset="-120"/>
              </a:rPr>
              <a:t>Ombrair — produits et services</a:t>
            </a:r>
            <a:endParaRPr lang="en-US" sz="900" dirty="0"/>
          </a:p>
        </p:txBody>
      </p:sp>
      <p:sp>
        <p:nvSpPr>
          <p:cNvPr id="35" name="Text 33"/>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667974"/>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E1C"/>
        </a:solidFill>
      </p:bgPr>
    </p:bg>
    <p:spTree>
      <p:nvGrpSpPr>
        <p:cNvPr id="1" name=""/>
        <p:cNvGrpSpPr/>
        <p:nvPr/>
      </p:nvGrpSpPr>
      <p:grpSpPr>
        <a:xfrm>
          <a:off x="0" y="0"/>
          <a:ext cx="0" cy="0"/>
          <a:chOff x="0" y="0"/>
          <a:chExt cx="0" cy="0"/>
        </a:xfrm>
      </p:grpSpPr>
      <p:sp>
        <p:nvSpPr>
          <p:cNvPr id="2" name="Text 0"/>
          <p:cNvSpPr/>
          <p:nvPr/>
        </p:nvSpPr>
        <p:spPr>
          <a:xfrm>
            <a:off x="502920" y="411480"/>
            <a:ext cx="8138160" cy="502920"/>
          </a:xfrm>
          <a:prstGeom prst="rect">
            <a:avLst/>
          </a:prstGeom>
          <a:noFill/>
          <a:ln/>
        </p:spPr>
        <p:txBody>
          <a:bodyPr wrap="square" rtlCol="0" anchor="ctr"/>
          <a:lstStyle/>
          <a:p>
            <a:pPr indent="0" marL="0">
              <a:buNone/>
            </a:pPr>
            <a:r>
              <a:rPr lang="en-US" sz="2600" b="1" dirty="0">
                <a:solidFill>
                  <a:srgbClr val="EDEEE8"/>
                </a:solidFill>
                <a:latin typeface="Arial" pitchFamily="34" charset="0"/>
                <a:ea typeface="Arial" pitchFamily="34" charset="-122"/>
                <a:cs typeface="Arial" pitchFamily="34" charset="-120"/>
              </a:rPr>
              <a:t>Une seule solution, du capteur au service</a:t>
            </a:r>
            <a:endParaRPr lang="en-US" sz="2600" dirty="0"/>
          </a:p>
        </p:txBody>
      </p:sp>
      <p:sp>
        <p:nvSpPr>
          <p:cNvPr id="3" name="Shape 1"/>
          <p:cNvSpPr/>
          <p:nvPr/>
        </p:nvSpPr>
        <p:spPr>
          <a:xfrm>
            <a:off x="502920" y="978408"/>
            <a:ext cx="8138160" cy="10973"/>
          </a:xfrm>
          <a:prstGeom prst="rect">
            <a:avLst/>
          </a:prstGeom>
          <a:solidFill>
            <a:srgbClr val="35473F"/>
          </a:solidFill>
          <a:ln/>
        </p:spPr>
      </p:sp>
      <p:sp>
        <p:nvSpPr>
          <p:cNvPr id="4" name="Shape 2"/>
          <p:cNvSpPr/>
          <p:nvPr/>
        </p:nvSpPr>
        <p:spPr>
          <a:xfrm>
            <a:off x="502920" y="1234440"/>
            <a:ext cx="1481328" cy="1280160"/>
          </a:xfrm>
          <a:prstGeom prst="rect">
            <a:avLst/>
          </a:prstGeom>
          <a:solidFill>
            <a:srgbClr val="17302B"/>
          </a:solidFill>
          <a:ln w="9525">
            <a:solidFill>
              <a:srgbClr val="35473F"/>
            </a:solidFill>
            <a:prstDash val="solid"/>
          </a:ln>
        </p:spPr>
      </p:sp>
      <p:sp>
        <p:nvSpPr>
          <p:cNvPr id="5" name="Text 3"/>
          <p:cNvSpPr/>
          <p:nvPr/>
        </p:nvSpPr>
        <p:spPr>
          <a:xfrm>
            <a:off x="594360" y="1463040"/>
            <a:ext cx="1298448" cy="27432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Concevoir</a:t>
            </a:r>
            <a:endParaRPr lang="en-US" sz="1150" dirty="0"/>
          </a:p>
        </p:txBody>
      </p:sp>
      <p:sp>
        <p:nvSpPr>
          <p:cNvPr id="6" name="Text 4"/>
          <p:cNvSpPr/>
          <p:nvPr/>
        </p:nvSpPr>
        <p:spPr>
          <a:xfrm>
            <a:off x="594360" y="1801368"/>
            <a:ext cx="1298448" cy="548640"/>
          </a:xfrm>
          <a:prstGeom prst="rect">
            <a:avLst/>
          </a:prstGeom>
          <a:noFill/>
          <a:ln/>
        </p:spPr>
        <p:txBody>
          <a:bodyPr wrap="square" rtlCol="0" anchor="ctr"/>
          <a:lstStyle/>
          <a:p>
            <a:pPr indent="0" marL="0">
              <a:lnSpc>
                <a:spcPts val="1200"/>
              </a:lnSpc>
              <a:buNone/>
            </a:pPr>
            <a:r>
              <a:rPr lang="en-US" sz="950" dirty="0">
                <a:solidFill>
                  <a:srgbClr val="8A908C"/>
                </a:solidFill>
                <a:latin typeface="Arial" pitchFamily="34" charset="0"/>
                <a:ea typeface="Arial" pitchFamily="34" charset="-122"/>
                <a:cs typeface="Arial" pitchFamily="34" charset="-120"/>
              </a:rPr>
              <a:t>Capteurs Ombrair</a:t>
            </a:r>
            <a:endParaRPr lang="en-US" sz="950" dirty="0"/>
          </a:p>
        </p:txBody>
      </p:sp>
      <p:sp>
        <p:nvSpPr>
          <p:cNvPr id="7" name="Shape 5"/>
          <p:cNvSpPr/>
          <p:nvPr/>
        </p:nvSpPr>
        <p:spPr>
          <a:xfrm>
            <a:off x="2167128" y="1234440"/>
            <a:ext cx="1481328" cy="1280160"/>
          </a:xfrm>
          <a:prstGeom prst="rect">
            <a:avLst/>
          </a:prstGeom>
          <a:solidFill>
            <a:srgbClr val="17302B"/>
          </a:solidFill>
          <a:ln w="9525">
            <a:solidFill>
              <a:srgbClr val="35473F"/>
            </a:solidFill>
            <a:prstDash val="solid"/>
          </a:ln>
        </p:spPr>
      </p:sp>
      <p:sp>
        <p:nvSpPr>
          <p:cNvPr id="8" name="Text 6"/>
          <p:cNvSpPr/>
          <p:nvPr/>
        </p:nvSpPr>
        <p:spPr>
          <a:xfrm>
            <a:off x="2258568" y="1463040"/>
            <a:ext cx="1298448" cy="27432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Équiper</a:t>
            </a:r>
            <a:endParaRPr lang="en-US" sz="1150" dirty="0"/>
          </a:p>
        </p:txBody>
      </p:sp>
      <p:sp>
        <p:nvSpPr>
          <p:cNvPr id="9" name="Text 7"/>
          <p:cNvSpPr/>
          <p:nvPr/>
        </p:nvSpPr>
        <p:spPr>
          <a:xfrm>
            <a:off x="2258568" y="1801368"/>
            <a:ext cx="1298448" cy="548640"/>
          </a:xfrm>
          <a:prstGeom prst="rect">
            <a:avLst/>
          </a:prstGeom>
          <a:noFill/>
          <a:ln/>
        </p:spPr>
        <p:txBody>
          <a:bodyPr wrap="square" rtlCol="0" anchor="ctr"/>
          <a:lstStyle/>
          <a:p>
            <a:pPr indent="0" marL="0">
              <a:lnSpc>
                <a:spcPts val="1200"/>
              </a:lnSpc>
              <a:buNone/>
            </a:pPr>
            <a:r>
              <a:rPr lang="en-US" sz="950" dirty="0">
                <a:solidFill>
                  <a:srgbClr val="8A908C"/>
                </a:solidFill>
                <a:latin typeface="Arial" pitchFamily="34" charset="0"/>
                <a:ea typeface="Arial" pitchFamily="34" charset="-122"/>
                <a:cs typeface="Arial" pitchFamily="34" charset="-120"/>
              </a:rPr>
              <a:t>Volets et fenêtres motorisés</a:t>
            </a:r>
            <a:endParaRPr lang="en-US" sz="950" dirty="0"/>
          </a:p>
        </p:txBody>
      </p:sp>
      <p:sp>
        <p:nvSpPr>
          <p:cNvPr id="10" name="Shape 8"/>
          <p:cNvSpPr/>
          <p:nvPr/>
        </p:nvSpPr>
        <p:spPr>
          <a:xfrm>
            <a:off x="3831336" y="1234440"/>
            <a:ext cx="1481328" cy="1280160"/>
          </a:xfrm>
          <a:prstGeom prst="rect">
            <a:avLst/>
          </a:prstGeom>
          <a:solidFill>
            <a:srgbClr val="17302B"/>
          </a:solidFill>
          <a:ln w="9525">
            <a:solidFill>
              <a:srgbClr val="35473F"/>
            </a:solidFill>
            <a:prstDash val="solid"/>
          </a:ln>
        </p:spPr>
      </p:sp>
      <p:sp>
        <p:nvSpPr>
          <p:cNvPr id="11" name="Text 9"/>
          <p:cNvSpPr/>
          <p:nvPr/>
        </p:nvSpPr>
        <p:spPr>
          <a:xfrm>
            <a:off x="3922776" y="1463040"/>
            <a:ext cx="1298448" cy="27432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Installer</a:t>
            </a:r>
            <a:endParaRPr lang="en-US" sz="1150" dirty="0"/>
          </a:p>
        </p:txBody>
      </p:sp>
      <p:sp>
        <p:nvSpPr>
          <p:cNvPr id="12" name="Text 10"/>
          <p:cNvSpPr/>
          <p:nvPr/>
        </p:nvSpPr>
        <p:spPr>
          <a:xfrm>
            <a:off x="3922776" y="1801368"/>
            <a:ext cx="1298448" cy="548640"/>
          </a:xfrm>
          <a:prstGeom prst="rect">
            <a:avLst/>
          </a:prstGeom>
          <a:noFill/>
          <a:ln/>
        </p:spPr>
        <p:txBody>
          <a:bodyPr wrap="square" rtlCol="0" anchor="ctr"/>
          <a:lstStyle/>
          <a:p>
            <a:pPr indent="0" marL="0">
              <a:lnSpc>
                <a:spcPts val="1200"/>
              </a:lnSpc>
              <a:buNone/>
            </a:pPr>
            <a:r>
              <a:rPr lang="en-US" sz="950" dirty="0">
                <a:solidFill>
                  <a:srgbClr val="8A908C"/>
                </a:solidFill>
                <a:latin typeface="Arial" pitchFamily="34" charset="0"/>
                <a:ea typeface="Arial" pitchFamily="34" charset="-122"/>
                <a:cs typeface="Arial" pitchFamily="34" charset="-120"/>
              </a:rPr>
              <a:t>Pose et configuration</a:t>
            </a:r>
            <a:endParaRPr lang="en-US" sz="950" dirty="0"/>
          </a:p>
        </p:txBody>
      </p:sp>
      <p:sp>
        <p:nvSpPr>
          <p:cNvPr id="13" name="Shape 11"/>
          <p:cNvSpPr/>
          <p:nvPr/>
        </p:nvSpPr>
        <p:spPr>
          <a:xfrm>
            <a:off x="5495544" y="1234440"/>
            <a:ext cx="1481328" cy="1280160"/>
          </a:xfrm>
          <a:prstGeom prst="rect">
            <a:avLst/>
          </a:prstGeom>
          <a:solidFill>
            <a:srgbClr val="17302B"/>
          </a:solidFill>
          <a:ln w="9525">
            <a:solidFill>
              <a:srgbClr val="35473F"/>
            </a:solidFill>
            <a:prstDash val="solid"/>
          </a:ln>
        </p:spPr>
      </p:sp>
      <p:sp>
        <p:nvSpPr>
          <p:cNvPr id="14" name="Text 12"/>
          <p:cNvSpPr/>
          <p:nvPr/>
        </p:nvSpPr>
        <p:spPr>
          <a:xfrm>
            <a:off x="5586984" y="1463040"/>
            <a:ext cx="1298448" cy="27432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Connecter</a:t>
            </a:r>
            <a:endParaRPr lang="en-US" sz="1150" dirty="0"/>
          </a:p>
        </p:txBody>
      </p:sp>
      <p:sp>
        <p:nvSpPr>
          <p:cNvPr id="15" name="Text 13"/>
          <p:cNvSpPr/>
          <p:nvPr/>
        </p:nvSpPr>
        <p:spPr>
          <a:xfrm>
            <a:off x="5586984" y="1801368"/>
            <a:ext cx="1298448" cy="548640"/>
          </a:xfrm>
          <a:prstGeom prst="rect">
            <a:avLst/>
          </a:prstGeom>
          <a:noFill/>
          <a:ln/>
        </p:spPr>
        <p:txBody>
          <a:bodyPr wrap="square" rtlCol="0" anchor="ctr"/>
          <a:lstStyle/>
          <a:p>
            <a:pPr indent="0" marL="0">
              <a:lnSpc>
                <a:spcPts val="1200"/>
              </a:lnSpc>
              <a:buNone/>
            </a:pPr>
            <a:r>
              <a:rPr lang="en-US" sz="950" dirty="0">
                <a:solidFill>
                  <a:srgbClr val="8A908C"/>
                </a:solidFill>
                <a:latin typeface="Arial" pitchFamily="34" charset="0"/>
                <a:ea typeface="Arial" pitchFamily="34" charset="-122"/>
                <a:cs typeface="Arial" pitchFamily="34" charset="-120"/>
              </a:rPr>
              <a:t>Application Ombrair</a:t>
            </a:r>
            <a:endParaRPr lang="en-US" sz="950" dirty="0"/>
          </a:p>
        </p:txBody>
      </p:sp>
      <p:sp>
        <p:nvSpPr>
          <p:cNvPr id="16" name="Shape 14"/>
          <p:cNvSpPr/>
          <p:nvPr/>
        </p:nvSpPr>
        <p:spPr>
          <a:xfrm>
            <a:off x="7159752" y="1234440"/>
            <a:ext cx="1481328" cy="1280160"/>
          </a:xfrm>
          <a:prstGeom prst="rect">
            <a:avLst/>
          </a:prstGeom>
          <a:solidFill>
            <a:srgbClr val="17302B"/>
          </a:solidFill>
          <a:ln w="9525">
            <a:solidFill>
              <a:srgbClr val="35473F"/>
            </a:solidFill>
            <a:prstDash val="solid"/>
          </a:ln>
        </p:spPr>
      </p:sp>
      <p:sp>
        <p:nvSpPr>
          <p:cNvPr id="17" name="Text 15"/>
          <p:cNvSpPr/>
          <p:nvPr/>
        </p:nvSpPr>
        <p:spPr>
          <a:xfrm>
            <a:off x="7251192" y="1463040"/>
            <a:ext cx="1298448" cy="274320"/>
          </a:xfrm>
          <a:prstGeom prst="rect">
            <a:avLst/>
          </a:prstGeom>
          <a:noFill/>
          <a:ln/>
        </p:spPr>
        <p:txBody>
          <a:bodyPr wrap="square" rtlCol="0" anchor="ctr"/>
          <a:lstStyle/>
          <a:p>
            <a:pPr indent="0" marL="0">
              <a:buNone/>
            </a:pPr>
            <a:r>
              <a:rPr lang="en-US" sz="1150" b="1" dirty="0">
                <a:solidFill>
                  <a:srgbClr val="EDEEE8"/>
                </a:solidFill>
                <a:latin typeface="Arial" pitchFamily="34" charset="0"/>
                <a:ea typeface="Arial" pitchFamily="34" charset="-122"/>
                <a:cs typeface="Arial" pitchFamily="34" charset="-120"/>
              </a:rPr>
              <a:t>Accompagner</a:t>
            </a:r>
            <a:endParaRPr lang="en-US" sz="1150" dirty="0"/>
          </a:p>
        </p:txBody>
      </p:sp>
      <p:sp>
        <p:nvSpPr>
          <p:cNvPr id="18" name="Text 16"/>
          <p:cNvSpPr/>
          <p:nvPr/>
        </p:nvSpPr>
        <p:spPr>
          <a:xfrm>
            <a:off x="7251192" y="1801368"/>
            <a:ext cx="1298448" cy="548640"/>
          </a:xfrm>
          <a:prstGeom prst="rect">
            <a:avLst/>
          </a:prstGeom>
          <a:noFill/>
          <a:ln/>
        </p:spPr>
        <p:txBody>
          <a:bodyPr wrap="square" rtlCol="0" anchor="ctr"/>
          <a:lstStyle/>
          <a:p>
            <a:pPr indent="0" marL="0">
              <a:lnSpc>
                <a:spcPts val="1200"/>
              </a:lnSpc>
              <a:buNone/>
            </a:pPr>
            <a:r>
              <a:rPr lang="en-US" sz="950" dirty="0">
                <a:solidFill>
                  <a:srgbClr val="8A908C"/>
                </a:solidFill>
                <a:latin typeface="Arial" pitchFamily="34" charset="0"/>
                <a:ea typeface="Arial" pitchFamily="34" charset="-122"/>
                <a:cs typeface="Arial" pitchFamily="34" charset="-120"/>
              </a:rPr>
              <a:t>Maintenance et support</a:t>
            </a:r>
            <a:endParaRPr lang="en-US" sz="950" dirty="0"/>
          </a:p>
        </p:txBody>
      </p:sp>
      <p:sp>
        <p:nvSpPr>
          <p:cNvPr id="19" name="Text 17"/>
          <p:cNvSpPr/>
          <p:nvPr/>
        </p:nvSpPr>
        <p:spPr>
          <a:xfrm>
            <a:off x="502920" y="2834640"/>
            <a:ext cx="8138160" cy="731520"/>
          </a:xfrm>
          <a:prstGeom prst="rect">
            <a:avLst/>
          </a:prstGeom>
          <a:noFill/>
          <a:ln/>
        </p:spPr>
        <p:txBody>
          <a:bodyPr wrap="square" rtlCol="0" anchor="ctr"/>
          <a:lstStyle/>
          <a:p>
            <a:pPr indent="0" marL="0">
              <a:lnSpc>
                <a:spcPts val="2100"/>
              </a:lnSpc>
              <a:buNone/>
            </a:pPr>
            <a:r>
              <a:rPr lang="en-US" sz="1400" dirty="0">
                <a:solidFill>
                  <a:srgbClr val="EDEEE8"/>
                </a:solidFill>
                <a:latin typeface="Arial" pitchFamily="34" charset="0"/>
                <a:ea typeface="Arial" pitchFamily="34" charset="-122"/>
                <a:cs typeface="Arial" pitchFamily="34" charset="-120"/>
              </a:rPr>
              <a:t>Ombrair conçoit la couche intelligente de la solution — capteurs, intégration, logiciel et services — et fournit les équipements motorisés nécessaires, qu'elle installe et accompagne dans la durée.</a:t>
            </a:r>
            <a:endParaRPr lang="en-US" sz="1400" dirty="0"/>
          </a:p>
        </p:txBody>
      </p:sp>
      <p:sp>
        <p:nvSpPr>
          <p:cNvPr id="20" name="Shape 18"/>
          <p:cNvSpPr/>
          <p:nvPr/>
        </p:nvSpPr>
        <p:spPr>
          <a:xfrm>
            <a:off x="502920" y="3630168"/>
            <a:ext cx="1371600" cy="41148"/>
          </a:xfrm>
          <a:prstGeom prst="rect">
            <a:avLst/>
          </a:prstGeom>
          <a:solidFill>
            <a:srgbClr val="35473F"/>
          </a:solidFill>
          <a:ln/>
        </p:spPr>
      </p:sp>
      <p:sp>
        <p:nvSpPr>
          <p:cNvPr id="21" name="Shape 19"/>
          <p:cNvSpPr/>
          <p:nvPr/>
        </p:nvSpPr>
        <p:spPr>
          <a:xfrm>
            <a:off x="502920" y="3739896"/>
            <a:ext cx="1371600" cy="41148"/>
          </a:xfrm>
          <a:prstGeom prst="rect">
            <a:avLst/>
          </a:prstGeom>
          <a:solidFill>
            <a:srgbClr val="35473F"/>
          </a:solidFill>
          <a:ln/>
        </p:spPr>
      </p:sp>
      <p:sp>
        <p:nvSpPr>
          <p:cNvPr id="22" name="Shape 20"/>
          <p:cNvSpPr/>
          <p:nvPr/>
        </p:nvSpPr>
        <p:spPr>
          <a:xfrm>
            <a:off x="502920" y="3849624"/>
            <a:ext cx="1371600" cy="41148"/>
          </a:xfrm>
          <a:prstGeom prst="rect">
            <a:avLst/>
          </a:prstGeom>
          <a:solidFill>
            <a:srgbClr val="35473F"/>
          </a:solidFill>
          <a:ln/>
        </p:spPr>
      </p:sp>
      <p:sp>
        <p:nvSpPr>
          <p:cNvPr id="23" name="Text 21"/>
          <p:cNvSpPr/>
          <p:nvPr/>
        </p:nvSpPr>
        <p:spPr>
          <a:xfrm>
            <a:off x="2148840" y="3611880"/>
            <a:ext cx="6492240" cy="365760"/>
          </a:xfrm>
          <a:prstGeom prst="rect">
            <a:avLst/>
          </a:prstGeom>
          <a:noFill/>
          <a:ln/>
        </p:spPr>
        <p:txBody>
          <a:bodyPr wrap="square" rtlCol="0" anchor="ctr"/>
          <a:lstStyle/>
          <a:p>
            <a:pPr indent="0" marL="0">
              <a:buNone/>
            </a:pPr>
            <a:r>
              <a:rPr lang="en-US" sz="1500" b="1" dirty="0">
                <a:solidFill>
                  <a:srgbClr val="EDEEE8"/>
                </a:solidFill>
                <a:latin typeface="Arial" pitchFamily="34" charset="0"/>
                <a:ea typeface="Arial" pitchFamily="34" charset="-122"/>
                <a:cs typeface="Arial" pitchFamily="34" charset="-120"/>
              </a:rPr>
              <a:t>La fraîcheur, avant la chaleur.</a:t>
            </a:r>
            <a:endParaRPr lang="en-US" sz="1500" dirty="0"/>
          </a:p>
        </p:txBody>
      </p:sp>
      <p:sp>
        <p:nvSpPr>
          <p:cNvPr id="24" name="Text 22"/>
          <p:cNvSpPr/>
          <p:nvPr/>
        </p:nvSpPr>
        <p:spPr>
          <a:xfrm>
            <a:off x="502920" y="4759452"/>
            <a:ext cx="4572000" cy="228600"/>
          </a:xfrm>
          <a:prstGeom prst="rect">
            <a:avLst/>
          </a:prstGeom>
          <a:noFill/>
          <a:ln/>
        </p:spPr>
        <p:txBody>
          <a:bodyPr wrap="square" rtlCol="0" anchor="ctr"/>
          <a:lstStyle/>
          <a:p>
            <a:pPr indent="0" marL="0">
              <a:buNone/>
            </a:pPr>
            <a:r>
              <a:rPr lang="en-US" sz="900" dirty="0">
                <a:solidFill>
                  <a:srgbClr val="8A908C"/>
                </a:solidFill>
                <a:latin typeface="Arial" pitchFamily="34" charset="0"/>
                <a:ea typeface="Arial" pitchFamily="34" charset="-122"/>
                <a:cs typeface="Arial" pitchFamily="34" charset="-120"/>
              </a:rPr>
              <a:t>Ombrair — produits et services</a:t>
            </a:r>
            <a:endParaRPr lang="en-US" sz="900" dirty="0"/>
          </a:p>
        </p:txBody>
      </p:sp>
      <p:sp>
        <p:nvSpPr>
          <p:cNvPr id="25" name="Text 23"/>
          <p:cNvSpPr/>
          <p:nvPr/>
        </p:nvSpPr>
        <p:spPr>
          <a:xfrm>
            <a:off x="8183880" y="4759452"/>
            <a:ext cx="457200" cy="228600"/>
          </a:xfrm>
          <a:prstGeom prst="rect">
            <a:avLst/>
          </a:prstGeom>
          <a:noFill/>
          <a:ln/>
        </p:spPr>
        <p:txBody>
          <a:bodyPr wrap="square" rtlCol="0" anchor="ctr"/>
          <a:lstStyle/>
          <a:p>
            <a:pPr algn="r" indent="0" marL="0">
              <a:buNone/>
            </a:pPr>
            <a:r>
              <a:rPr lang="en-US" sz="900" dirty="0">
                <a:solidFill>
                  <a:srgbClr val="8A908C"/>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Université Toulouse Jean Jaurès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Ombrair — produits et services</dc:title>
  <dc:subject>PptxGenJS Presentation</dc:subject>
  <dc:creator>Ombrair</dc:creator>
  <cp:lastModifiedBy>Ombrair</cp:lastModifiedBy>
  <cp:revision>1</cp:revision>
  <dcterms:created xsi:type="dcterms:W3CDTF">2026-08-25T19:50:52Z</dcterms:created>
  <dcterms:modified xsi:type="dcterms:W3CDTF">2026-08-25T19:50:52Z</dcterms:modified>
</cp:coreProperties>
</file>